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0"/>
            <a:ext cx="109728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2BC4DA"/>
                </a:solidFill>
                <a:latin typeface="Segoe UI"/>
              </a:rPr>
              <a:t>ROZPROSZONY SYSTEM BMS / SCADA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965960"/>
            <a:ext cx="10972800" cy="1828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4600" b="1">
                <a:solidFill>
                  <a:srgbClr val="EAF0F5"/>
                </a:solidFill>
                <a:latin typeface="Segoe UI"/>
              </a:rPr>
              <a:t>Procedura testowa</a:t>
            </a:r>
          </a:p>
          <a:p>
            <a:pPr algn="l">
              <a:spcAft>
                <a:spcPts val="200"/>
              </a:spcAft>
            </a:pPr>
            <a:r>
              <a:rPr sz="3000" b="0">
                <a:solidFill>
                  <a:srgbClr val="8B98A6"/>
                </a:solidFill>
                <a:latin typeface="Segoe UI"/>
              </a:rPr>
              <a:t>i katalog funkcji sterowalnych z dashboardu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840480"/>
            <a:ext cx="10972800" cy="1097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8B98A6"/>
                </a:solidFill>
                <a:latin typeface="Segoe UI"/>
              </a:rPr>
              <a:t>LoRa Meshtastic 868 MHz  ·  Zigbee2MQTT  ·  Home Assistant  ·  architektura wielobramkowa (supervisor + bramki autonomiczne)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029200"/>
            <a:ext cx="5120640" cy="1005840"/>
          </a:xfrm>
          <a:prstGeom prst="roundRect">
            <a:avLst>
              <a:gd name="adj" fmla="val 6000"/>
            </a:avLst>
          </a:prstGeom>
          <a:solidFill>
            <a:srgbClr val="161E27"/>
          </a:solidFill>
          <a:ln w="12700">
            <a:solidFill>
              <a:srgbClr val="2A3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5166360"/>
            <a:ext cx="475488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2BC4DA"/>
                </a:solidFill>
                <a:latin typeface="Segoe UI"/>
              </a:rPr>
              <a:t>METODA TESTU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EAF0F5"/>
                </a:solidFill>
                <a:latin typeface="Segoe UI"/>
              </a:rPr>
              <a:t>Każda funkcja wywoływana z dashboardu (Chrome) i weryfikowana w logach LoRa obu bramek (Meshtastic launcher — porównanie obok siebie).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5029200"/>
            <a:ext cx="5577840" cy="1005840"/>
          </a:xfrm>
          <a:prstGeom prst="roundRect">
            <a:avLst>
              <a:gd name="adj" fmla="val 6000"/>
            </a:avLst>
          </a:prstGeom>
          <a:solidFill>
            <a:srgbClr val="161E27"/>
          </a:solidFill>
          <a:ln w="12700">
            <a:solidFill>
              <a:srgbClr val="2A3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72200" y="5166360"/>
            <a:ext cx="521208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2BC4DA"/>
                </a:solidFill>
                <a:latin typeface="Segoe UI"/>
              </a:rPr>
              <a:t>STANOWISKO TESTOWE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EAF0F5"/>
                </a:solidFill>
                <a:latin typeface="Segoe UI"/>
              </a:rPr>
              <a:t>Bramka G2 (100.98.155.78) ↔ Supervisor (100.79.111.24) · 199 urządzeń Zigbee · testy na żywo.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8B98A6"/>
                </a:solidFill>
                <a:latin typeface="Segoe UI"/>
              </a:rPr>
              <a:t>Dokument techniczny · wynik audytu funkcjonalnego hands-on · 2026-07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BC4DA"/>
                </a:solidFill>
                <a:latin typeface="Segoe UI"/>
              </a:rPr>
              <a:t>ZAKRES · CO SYSTEM ROBI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41248"/>
            <a:ext cx="822960" cy="38100"/>
          </a:xfrm>
          <a:prstGeom prst="rect">
            <a:avLst/>
          </a:prstGeom>
          <a:solidFill>
            <a:srgbClr val="2BC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EAF0F5"/>
                </a:solidFill>
                <a:latin typeface="Segoe UI"/>
              </a:rPr>
              <a:t>Katalog funkcji — 9 grup, wszystkie sterowalne z dashboardu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3657600" cy="1417320"/>
          </a:xfrm>
          <a:prstGeom prst="roundRect">
            <a:avLst>
              <a:gd name="adj" fmla="val 6000"/>
            </a:avLst>
          </a:prstGeom>
          <a:solidFill>
            <a:srgbClr val="161E27"/>
          </a:solidFill>
          <a:ln w="12700">
            <a:solidFill>
              <a:srgbClr val="2A3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13232" y="1874520"/>
            <a:ext cx="457200" cy="457200"/>
          </a:xfrm>
          <a:prstGeom prst="roundRect">
            <a:avLst>
              <a:gd name="adj" fmla="val 6000"/>
            </a:avLst>
          </a:prstGeom>
          <a:noFill/>
          <a:ln w="19050">
            <a:solidFill>
              <a:srgbClr val="2BC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865376"/>
            <a:ext cx="45720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2BC4DA"/>
                </a:solidFill>
                <a:latin typeface="Segoe UI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1856232"/>
            <a:ext cx="278892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EAF0F5"/>
                </a:solidFill>
                <a:latin typeface="Segoe UI"/>
              </a:rPr>
              <a:t>Transport LoRa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50008"/>
            <a:ext cx="3337560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8B98A6"/>
                </a:solidFill>
                <a:latin typeface="Segoe UI"/>
              </a:rPr>
              <a:t>Heartbeat, ping/pong, transfery-pliki (mapa/anomalie/kalendarz), arbiter kanału, serializacja, slotowanie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91640"/>
            <a:ext cx="3657600" cy="1417320"/>
          </a:xfrm>
          <a:prstGeom prst="roundRect">
            <a:avLst>
              <a:gd name="adj" fmla="val 6000"/>
            </a:avLst>
          </a:prstGeom>
          <a:solidFill>
            <a:srgbClr val="161E27"/>
          </a:solidFill>
          <a:ln w="12700">
            <a:solidFill>
              <a:srgbClr val="2A3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07992" y="1874520"/>
            <a:ext cx="457200" cy="457200"/>
          </a:xfrm>
          <a:prstGeom prst="roundRect">
            <a:avLst>
              <a:gd name="adj" fmla="val 6000"/>
            </a:avLst>
          </a:prstGeom>
          <a:noFill/>
          <a:ln w="19050">
            <a:solidFill>
              <a:srgbClr val="2BC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7992" y="1865376"/>
            <a:ext cx="45720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2BC4DA"/>
                </a:solidFill>
                <a:latin typeface="Segoe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93208" y="1856232"/>
            <a:ext cx="278892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EAF0F5"/>
                </a:solidFill>
                <a:latin typeface="Segoe UI"/>
              </a:rPr>
              <a:t>Discovery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350008"/>
            <a:ext cx="3337560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8B98A6"/>
                </a:solidFill>
                <a:latin typeface="Segoe UI"/>
              </a:rPr>
              <a:t>Mapa urządzeń (sid↔nazwa) jako plik, autodiscovery monitored/priority, wirtualne I/O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691640"/>
            <a:ext cx="3657600" cy="1417320"/>
          </a:xfrm>
          <a:prstGeom prst="roundRect">
            <a:avLst>
              <a:gd name="adj" fmla="val 6000"/>
            </a:avLst>
          </a:prstGeom>
          <a:solidFill>
            <a:srgbClr val="161E27"/>
          </a:solidFill>
          <a:ln w="12700">
            <a:solidFill>
              <a:srgbClr val="2A3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02752" y="1874520"/>
            <a:ext cx="457200" cy="457200"/>
          </a:xfrm>
          <a:prstGeom prst="roundRect">
            <a:avLst>
              <a:gd name="adj" fmla="val 6000"/>
            </a:avLst>
          </a:prstGeom>
          <a:noFill/>
          <a:ln w="19050">
            <a:solidFill>
              <a:srgbClr val="3FD0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2752" y="1865376"/>
            <a:ext cx="45720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3FD07F"/>
                </a:solidFill>
                <a:latin typeface="Segoe UI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87968" y="1856232"/>
            <a:ext cx="278892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EAF0F5"/>
                </a:solidFill>
                <a:latin typeface="Segoe UI"/>
              </a:rPr>
              <a:t>Śledzenie stanów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350008"/>
            <a:ext cx="3337560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8B98A6"/>
                </a:solidFill>
                <a:latin typeface="Segoe UI"/>
              </a:rPr>
              <a:t>Batch monitored/priority, temp/wilgotność, dostępność (jedno źródło prawdy)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246120"/>
            <a:ext cx="3657600" cy="1417320"/>
          </a:xfrm>
          <a:prstGeom prst="roundRect">
            <a:avLst>
              <a:gd name="adj" fmla="val 6000"/>
            </a:avLst>
          </a:prstGeom>
          <a:solidFill>
            <a:srgbClr val="161E27"/>
          </a:solidFill>
          <a:ln w="12700">
            <a:solidFill>
              <a:srgbClr val="2A3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13232" y="3429000"/>
            <a:ext cx="457200" cy="457200"/>
          </a:xfrm>
          <a:prstGeom prst="roundRect">
            <a:avLst>
              <a:gd name="adj" fmla="val 6000"/>
            </a:avLst>
          </a:prstGeom>
          <a:noFill/>
          <a:ln w="19050">
            <a:solidFill>
              <a:srgbClr val="3FD0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3419856"/>
            <a:ext cx="45720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3FD07F"/>
                </a:solidFill>
                <a:latin typeface="Segoe U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98448" y="3410712"/>
            <a:ext cx="278892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EAF0F5"/>
                </a:solidFill>
                <a:latin typeface="Segoe UI"/>
              </a:rPr>
              <a:t>Sterowanie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904487"/>
            <a:ext cx="3337560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8B98A6"/>
                </a:solidFill>
                <a:latin typeface="Segoe UI"/>
              </a:rPr>
              <a:t>Przekaźniki ON/OFF ze sprzężeniem, retry/timeout→offline, wirtualne przełączniki/przyciski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3400" y="3246120"/>
            <a:ext cx="3657600" cy="1417320"/>
          </a:xfrm>
          <a:prstGeom prst="roundRect">
            <a:avLst>
              <a:gd name="adj" fmla="val 6000"/>
            </a:avLst>
          </a:prstGeom>
          <a:solidFill>
            <a:srgbClr val="161E27"/>
          </a:solidFill>
          <a:ln w="12700">
            <a:solidFill>
              <a:srgbClr val="2A3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507992" y="3429000"/>
            <a:ext cx="457200" cy="457200"/>
          </a:xfrm>
          <a:prstGeom prst="roundRect">
            <a:avLst>
              <a:gd name="adj" fmla="val 6000"/>
            </a:avLst>
          </a:prstGeom>
          <a:noFill/>
          <a:ln w="19050">
            <a:solidFill>
              <a:srgbClr val="E0A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07992" y="3419856"/>
            <a:ext cx="45720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E0A63A"/>
                </a:solidFill>
                <a:latin typeface="Segoe UI"/>
              </a:rPr>
              <a:t>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93208" y="3410712"/>
            <a:ext cx="278892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EAF0F5"/>
                </a:solidFill>
                <a:latin typeface="Segoe UI"/>
              </a:rPr>
              <a:t>Anomalie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6280" y="3904487"/>
            <a:ext cx="3337560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8B98A6"/>
                </a:solidFill>
                <a:latin typeface="Segoe UI"/>
              </a:rPr>
              <a:t>Offline / bateria / temp / wilg. / stagnacja / dym / zalanie — wszystkie urządzenia, blob ansnap, clear obustronny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38160" y="3246120"/>
            <a:ext cx="3657600" cy="1417320"/>
          </a:xfrm>
          <a:prstGeom prst="roundRect">
            <a:avLst>
              <a:gd name="adj" fmla="val 6000"/>
            </a:avLst>
          </a:prstGeom>
          <a:solidFill>
            <a:srgbClr val="161E27"/>
          </a:solidFill>
          <a:ln w="12700">
            <a:solidFill>
              <a:srgbClr val="2A3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302752" y="3429000"/>
            <a:ext cx="457200" cy="457200"/>
          </a:xfrm>
          <a:prstGeom prst="roundRect">
            <a:avLst>
              <a:gd name="adj" fmla="val 6000"/>
            </a:avLst>
          </a:prstGeom>
          <a:noFill/>
          <a:ln w="19050">
            <a:solidFill>
              <a:srgbClr val="E0A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2752" y="3419856"/>
            <a:ext cx="45720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E0A63A"/>
                </a:solidFill>
                <a:latin typeface="Segoe UI"/>
              </a:rPr>
              <a:t>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87968" y="3410712"/>
            <a:ext cx="278892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EAF0F5"/>
                </a:solidFill>
                <a:latin typeface="Segoe UI"/>
              </a:rPr>
              <a:t>Harmonogram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3904487"/>
            <a:ext cx="3337560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8B98A6"/>
                </a:solidFill>
                <a:latin typeface="Segoe UI"/>
              </a:rPr>
              <a:t>Kalendarz push global/per-bramka, fizyczna aktualizacja (WS), tryb produkcji, hash-sync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4800600"/>
            <a:ext cx="3657600" cy="1417320"/>
          </a:xfrm>
          <a:prstGeom prst="roundRect">
            <a:avLst>
              <a:gd name="adj" fmla="val 6000"/>
            </a:avLst>
          </a:prstGeom>
          <a:solidFill>
            <a:srgbClr val="161E27"/>
          </a:solidFill>
          <a:ln w="12700">
            <a:solidFill>
              <a:srgbClr val="2A3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13232" y="4983480"/>
            <a:ext cx="457200" cy="457200"/>
          </a:xfrm>
          <a:prstGeom prst="roundRect">
            <a:avLst>
              <a:gd name="adj" fmla="val 6000"/>
            </a:avLst>
          </a:prstGeom>
          <a:noFill/>
          <a:ln w="19050">
            <a:solidFill>
              <a:srgbClr val="3FD0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3232" y="4974336"/>
            <a:ext cx="45720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3FD07F"/>
                </a:solidFill>
                <a:latin typeface="Segoe UI"/>
              </a:rPr>
              <a:t>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98448" y="4965192"/>
            <a:ext cx="278892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EAF0F5"/>
                </a:solidFill>
                <a:latin typeface="Segoe UI"/>
              </a:rPr>
              <a:t>Parametry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5458968"/>
            <a:ext cx="3337560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8B98A6"/>
                </a:solidFill>
                <a:latin typeface="Segoe UI"/>
              </a:rPr>
              <a:t>Progi (temp/wilg./bateria) i timeouty (T1/T2/T3) strojone per-bramka na żywo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343400" y="4800600"/>
            <a:ext cx="3657600" cy="1417320"/>
          </a:xfrm>
          <a:prstGeom prst="roundRect">
            <a:avLst>
              <a:gd name="adj" fmla="val 6000"/>
            </a:avLst>
          </a:prstGeom>
          <a:solidFill>
            <a:srgbClr val="161E27"/>
          </a:solidFill>
          <a:ln w="12700">
            <a:solidFill>
              <a:srgbClr val="2A3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507992" y="4983480"/>
            <a:ext cx="457200" cy="457200"/>
          </a:xfrm>
          <a:prstGeom prst="roundRect">
            <a:avLst>
              <a:gd name="adj" fmla="val 6000"/>
            </a:avLst>
          </a:prstGeom>
          <a:noFill/>
          <a:ln w="19050">
            <a:solidFill>
              <a:srgbClr val="2BC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07992" y="4974336"/>
            <a:ext cx="45720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2BC4DA"/>
                </a:solidFill>
                <a:latin typeface="Segoe UI"/>
              </a:rPr>
              <a:t>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93208" y="4965192"/>
            <a:ext cx="278892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EAF0F5"/>
                </a:solidFill>
                <a:latin typeface="Segoe UI"/>
              </a:rPr>
              <a:t>Czas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26280" y="5458968"/>
            <a:ext cx="3337560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8B98A6"/>
                </a:solidFill>
                <a:latin typeface="Segoe UI"/>
              </a:rPr>
              <a:t>Synchronizacja NTP, tryb dzień/noc (równanie solarne), jakość czasu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138160" y="4800600"/>
            <a:ext cx="3657600" cy="1417320"/>
          </a:xfrm>
          <a:prstGeom prst="roundRect">
            <a:avLst>
              <a:gd name="adj" fmla="val 6000"/>
            </a:avLst>
          </a:prstGeom>
          <a:solidFill>
            <a:srgbClr val="161E27"/>
          </a:solidFill>
          <a:ln w="12700">
            <a:solidFill>
              <a:srgbClr val="2A3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302752" y="4983480"/>
            <a:ext cx="457200" cy="457200"/>
          </a:xfrm>
          <a:prstGeom prst="roundRect">
            <a:avLst>
              <a:gd name="adj" fmla="val 6000"/>
            </a:avLst>
          </a:prstGeom>
          <a:noFill/>
          <a:ln w="19050">
            <a:solidFill>
              <a:srgbClr val="3FD0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02752" y="4974336"/>
            <a:ext cx="45720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3FD07F"/>
                </a:solidFill>
                <a:latin typeface="Segoe UI"/>
              </a:rPr>
              <a:t>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87968" y="4965192"/>
            <a:ext cx="278892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EAF0F5"/>
                </a:solidFill>
                <a:latin typeface="Segoe UI"/>
              </a:rPr>
              <a:t>Obserwowalność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21040" y="5458968"/>
            <a:ext cx="3337560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8B98A6"/>
                </a:solidFill>
                <a:latin typeface="Segoe UI"/>
              </a:rPr>
              <a:t>Dashboardy supervisora (multi-gw) i bramki: statusy, anomalie, sterowanie — klikane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BC4DA"/>
                </a:solidFill>
                <a:latin typeface="Segoe UI"/>
              </a:rPr>
              <a:t>DASHBOARD SUPERVISORA · WIDOK „BRAMKA GX”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41248"/>
            <a:ext cx="822960" cy="38100"/>
          </a:xfrm>
          <a:prstGeom prst="rect">
            <a:avLst/>
          </a:prstGeom>
          <a:solidFill>
            <a:srgbClr val="2BC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EAF0F5"/>
                </a:solidFill>
                <a:latin typeface="Segoe UI"/>
              </a:rPr>
              <a:t>Wszystkie funkcje wywoływalne jednym kliknięciem — per-bramka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3657600" cy="2148840"/>
          </a:xfrm>
          <a:prstGeom prst="roundRect">
            <a:avLst>
              <a:gd name="adj" fmla="val 6000"/>
            </a:avLst>
          </a:prstGeom>
          <a:solidFill>
            <a:srgbClr val="161E27"/>
          </a:solidFill>
          <a:ln w="12700">
            <a:solidFill>
              <a:srgbClr val="2A3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3657600" cy="457200"/>
          </a:xfrm>
          <a:prstGeom prst="roundRect">
            <a:avLst>
              <a:gd name="adj" fmla="val 6000"/>
            </a:avLst>
          </a:prstGeom>
          <a:solidFill>
            <a:srgbClr val="2BC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19072"/>
            <a:ext cx="3383280" cy="4023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0C1116"/>
                </a:solidFill>
                <a:latin typeface="Segoe UI"/>
              </a:rPr>
              <a:t>STEROWANIE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58568"/>
            <a:ext cx="3291840" cy="1508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EAF0F5"/>
                </a:solidFill>
                <a:latin typeface="Segoe UI"/>
              </a:rPr>
              <a:t>•  Ping Gx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EAF0F5"/>
                </a:solidFill>
                <a:latin typeface="Segoe UI"/>
              </a:rPr>
              <a:t>•  Disc Gx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EAF0F5"/>
                </a:solidFill>
                <a:latin typeface="Segoe UI"/>
              </a:rPr>
              <a:t>•  Czas Gx (sync)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EAF0F5"/>
                </a:solidFill>
                <a:latin typeface="Segoe UI"/>
              </a:rPr>
              <a:t>•  Dump Gx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691640"/>
            <a:ext cx="3657600" cy="2148840"/>
          </a:xfrm>
          <a:prstGeom prst="roundRect">
            <a:avLst>
              <a:gd name="adj" fmla="val 6000"/>
            </a:avLst>
          </a:prstGeom>
          <a:solidFill>
            <a:srgbClr val="161E27"/>
          </a:solidFill>
          <a:ln w="12700">
            <a:solidFill>
              <a:srgbClr val="2A3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43400" y="1691640"/>
            <a:ext cx="3657600" cy="457200"/>
          </a:xfrm>
          <a:prstGeom prst="roundRect">
            <a:avLst>
              <a:gd name="adj" fmla="val 6000"/>
            </a:avLst>
          </a:prstGeom>
          <a:solidFill>
            <a:srgbClr val="E0A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719072"/>
            <a:ext cx="3383280" cy="4023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0C1116"/>
                </a:solidFill>
                <a:latin typeface="Segoe UI"/>
              </a:rPr>
              <a:t>CLEAR ANOMALII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258568"/>
            <a:ext cx="3291840" cy="1508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EAF0F5"/>
                </a:solidFill>
                <a:latin typeface="Segoe UI"/>
              </a:rPr>
              <a:t>•  Offline Gx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EAF0F5"/>
                </a:solidFill>
                <a:latin typeface="Segoe UI"/>
              </a:rPr>
              <a:t>•  Bateria Gx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EAF0F5"/>
                </a:solidFill>
                <a:latin typeface="Segoe UI"/>
              </a:rPr>
              <a:t>•  Inne Gx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691640"/>
            <a:ext cx="3657600" cy="2148840"/>
          </a:xfrm>
          <a:prstGeom prst="roundRect">
            <a:avLst>
              <a:gd name="adj" fmla="val 6000"/>
            </a:avLst>
          </a:prstGeom>
          <a:solidFill>
            <a:srgbClr val="161E27"/>
          </a:solidFill>
          <a:ln w="12700">
            <a:solidFill>
              <a:srgbClr val="2A3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38160" y="1691640"/>
            <a:ext cx="3657600" cy="457200"/>
          </a:xfrm>
          <a:prstGeom prst="roundRect">
            <a:avLst>
              <a:gd name="adj" fmla="val 6000"/>
            </a:avLst>
          </a:prstGeom>
          <a:solidFill>
            <a:srgbClr val="E0A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719072"/>
            <a:ext cx="3383280" cy="4023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0C1116"/>
                </a:solidFill>
                <a:latin typeface="Segoe UI"/>
              </a:rPr>
              <a:t>HARMONOGRAM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258568"/>
            <a:ext cx="3291840" cy="1508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EAF0F5"/>
                </a:solidFill>
                <a:latin typeface="Segoe UI"/>
              </a:rPr>
              <a:t>•  Push → Gx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EAF0F5"/>
                </a:solidFill>
                <a:latin typeface="Segoe UI"/>
              </a:rPr>
              <a:t>•  Push → GLOBAL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EAF0F5"/>
                </a:solidFill>
                <a:latin typeface="Segoe UI"/>
              </a:rPr>
              <a:t>•  Pull ← Gx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005072"/>
            <a:ext cx="3657600" cy="2148840"/>
          </a:xfrm>
          <a:prstGeom prst="roundRect">
            <a:avLst>
              <a:gd name="adj" fmla="val 6000"/>
            </a:avLst>
          </a:prstGeom>
          <a:solidFill>
            <a:srgbClr val="161E27"/>
          </a:solidFill>
          <a:ln w="12700">
            <a:solidFill>
              <a:srgbClr val="2A3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48640" y="4005072"/>
            <a:ext cx="3657600" cy="457200"/>
          </a:xfrm>
          <a:prstGeom prst="roundRect">
            <a:avLst>
              <a:gd name="adj" fmla="val 6000"/>
            </a:avLst>
          </a:prstGeom>
          <a:solidFill>
            <a:srgbClr val="3FD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032504"/>
            <a:ext cx="3383280" cy="4023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0C1116"/>
                </a:solidFill>
                <a:latin typeface="Segoe UI"/>
              </a:rPr>
              <a:t>PARAMETRY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572000"/>
            <a:ext cx="3291840" cy="1508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EAF0F5"/>
                </a:solidFill>
                <a:latin typeface="Segoe UI"/>
              </a:rPr>
              <a:t>•  Config Gx (P1-3)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EAF0F5"/>
                </a:solidFill>
                <a:latin typeface="Segoe UI"/>
              </a:rPr>
              <a:t>•  Timeout Gx (T1-3)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EAF0F5"/>
                </a:solidFill>
                <a:latin typeface="Segoe UI"/>
              </a:rPr>
              <a:t>•  Progi Gx (temp/wilg/bat)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4005072"/>
            <a:ext cx="3657600" cy="2148840"/>
          </a:xfrm>
          <a:prstGeom prst="roundRect">
            <a:avLst>
              <a:gd name="adj" fmla="val 6000"/>
            </a:avLst>
          </a:prstGeom>
          <a:solidFill>
            <a:srgbClr val="161E27"/>
          </a:solidFill>
          <a:ln w="12700">
            <a:solidFill>
              <a:srgbClr val="2A3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343400" y="4005072"/>
            <a:ext cx="3657600" cy="457200"/>
          </a:xfrm>
          <a:prstGeom prst="roundRect">
            <a:avLst>
              <a:gd name="adj" fmla="val 6000"/>
            </a:avLst>
          </a:prstGeom>
          <a:solidFill>
            <a:srgbClr val="3FD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26280" y="4032504"/>
            <a:ext cx="3383280" cy="4023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0C1116"/>
                </a:solidFill>
                <a:latin typeface="Segoe UI"/>
              </a:rPr>
              <a:t>STEROWANIE URZĄDZ.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572000"/>
            <a:ext cx="3291840" cy="1508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EAF0F5"/>
                </a:solidFill>
                <a:latin typeface="Segoe UI"/>
              </a:rPr>
              <a:t>•  Przekaźnik ON/OFF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EAF0F5"/>
                </a:solidFill>
                <a:latin typeface="Segoe UI"/>
              </a:rPr>
              <a:t>•  VSwitch / VButton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EAF0F5"/>
                </a:solidFill>
                <a:latin typeface="Segoe UI"/>
              </a:rPr>
              <a:t>•  Refresh urządzenia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4005072"/>
            <a:ext cx="3657600" cy="2148840"/>
          </a:xfrm>
          <a:prstGeom prst="roundRect">
            <a:avLst>
              <a:gd name="adj" fmla="val 6000"/>
            </a:avLst>
          </a:prstGeom>
          <a:solidFill>
            <a:srgbClr val="161E27"/>
          </a:solidFill>
          <a:ln w="12700">
            <a:solidFill>
              <a:srgbClr val="2A3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138160" y="4005072"/>
            <a:ext cx="3657600" cy="457200"/>
          </a:xfrm>
          <a:prstGeom prst="roundRect">
            <a:avLst>
              <a:gd name="adj" fmla="val 6000"/>
            </a:avLst>
          </a:prstGeom>
          <a:solidFill>
            <a:srgbClr val="2BC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4032504"/>
            <a:ext cx="3383280" cy="4023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0C1116"/>
                </a:solidFill>
                <a:latin typeface="Segoe UI"/>
              </a:rPr>
              <a:t>PODGLĄD (statusy live)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4572000"/>
            <a:ext cx="3291840" cy="1508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EAF0F5"/>
                </a:solidFill>
                <a:latin typeface="Segoe UI"/>
              </a:rPr>
              <a:t>•  Total/Monitored/Offline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EAF0F5"/>
                </a:solidFill>
                <a:latin typeface="Segoe UI"/>
              </a:rPr>
              <a:t>•  Uptime · ostatni HB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EAF0F5"/>
                </a:solidFill>
                <a:latin typeface="Segoe UI"/>
              </a:rPr>
              <a:t>•  Hash param/disc · tryb · dzień-noc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172200"/>
            <a:ext cx="110642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8B98A6"/>
                </a:solidFill>
                <a:latin typeface="Segoe UI"/>
              </a:rPr>
              <a:t>Każdy przycisk potwierdzony na żywo: klik → log supervisora (wysłane) → log bramki (odebrane + wykonane). Adresowanie per-bramka; bramka ignoruje komendy nie do niej.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BC4DA"/>
                </a:solidFill>
                <a:latin typeface="Segoe UI"/>
              </a:rPr>
              <a:t>PROCEDURA A/B · TRANSPORT I DISCOVERY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41248"/>
            <a:ext cx="822960" cy="38100"/>
          </a:xfrm>
          <a:prstGeom prst="rect">
            <a:avLst/>
          </a:prstGeom>
          <a:solidFill>
            <a:srgbClr val="2BC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115568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EAF0F5"/>
                </a:solidFill>
                <a:latin typeface="Segoe UI"/>
              </a:rPr>
              <a:t>Test transportu LoRa i mapowania urządzeń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260604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8B98A6"/>
                </a:solidFill>
                <a:latin typeface="Segoe UI"/>
              </a:rPr>
              <a:t>FUNKCJA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737360"/>
            <a:ext cx="315468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8B98A6"/>
                </a:solidFill>
                <a:latin typeface="Segoe UI"/>
              </a:rPr>
              <a:t>JAK WYWOŁAĆ (dashboard)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306324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8B98A6"/>
                </a:solidFill>
                <a:latin typeface="Segoe UI"/>
              </a:rPr>
              <a:t>OCZEKIWANY WYNIK / weryfikacja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1737360"/>
            <a:ext cx="210312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8B98A6"/>
                </a:solidFill>
                <a:latin typeface="Segoe UI"/>
              </a:rPr>
              <a:t>STATUS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11109960" cy="15240"/>
          </a:xfrm>
          <a:prstGeom prst="rect">
            <a:avLst/>
          </a:prstGeom>
          <a:solidFill>
            <a:srgbClr val="2A3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2194560"/>
            <a:ext cx="11109960" cy="841248"/>
          </a:xfrm>
          <a:prstGeom prst="roundRect">
            <a:avLst>
              <a:gd name="adj" fmla="val 6000"/>
            </a:avLst>
          </a:prstGeom>
          <a:solidFill>
            <a:srgbClr val="161E27"/>
          </a:solidFill>
          <a:ln w="12700">
            <a:solidFill>
              <a:srgbClr val="2A3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249424"/>
            <a:ext cx="2514600" cy="7498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EAF0F5"/>
                </a:solidFill>
                <a:latin typeface="Segoe UI"/>
              </a:rPr>
              <a:t>Ping / Pong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249424"/>
            <a:ext cx="3063240" cy="7498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8B98A6"/>
                </a:solidFill>
                <a:latin typeface="Segoe UI"/>
              </a:rPr>
              <a:t>Klik „Ping Gx”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249424"/>
            <a:ext cx="2971800" cy="7498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8B98A6"/>
                </a:solidFill>
                <a:latin typeface="Segoe UI"/>
              </a:rPr>
              <a:t>Bramka RX ping → TX pong (uptime, hashe, tryb)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0" y="2459736"/>
            <a:ext cx="1737360" cy="310896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3FD0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0" y="2450592"/>
            <a:ext cx="1737360" cy="32918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3FD07F"/>
                </a:solidFill>
                <a:latin typeface="Segoe UI"/>
              </a:rPr>
              <a:t>PASS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145536"/>
            <a:ext cx="11109960" cy="841248"/>
          </a:xfrm>
          <a:prstGeom prst="roundRect">
            <a:avLst>
              <a:gd name="adj" fmla="val 6000"/>
            </a:avLst>
          </a:prstGeom>
          <a:solidFill>
            <a:srgbClr val="161E27"/>
          </a:solidFill>
          <a:ln w="12700">
            <a:solidFill>
              <a:srgbClr val="2A3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200400"/>
            <a:ext cx="2514600" cy="7498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EAF0F5"/>
                </a:solidFill>
                <a:latin typeface="Segoe UI"/>
              </a:rPr>
              <a:t>Discovery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3200400"/>
            <a:ext cx="3063240" cy="7498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8B98A6"/>
                </a:solidFill>
                <a:latin typeface="Segoe UI"/>
              </a:rPr>
              <a:t>Klik „Disc Gx”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200400"/>
            <a:ext cx="2971800" cy="7498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8B98A6"/>
                </a:solidFill>
                <a:latin typeface="Segoe UI"/>
              </a:rPr>
              <a:t>Hash zgodny → disc_meta (bez pełnej mapy = anti-spam); różny → pełna mapa plikiem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0" y="3410712"/>
            <a:ext cx="1737360" cy="310896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3FD0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0" y="3401568"/>
            <a:ext cx="1737360" cy="32918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3FD07F"/>
                </a:solidFill>
                <a:latin typeface="Segoe UI"/>
              </a:rPr>
              <a:t>PASS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096512"/>
            <a:ext cx="11109960" cy="841248"/>
          </a:xfrm>
          <a:prstGeom prst="roundRect">
            <a:avLst>
              <a:gd name="adj" fmla="val 6000"/>
            </a:avLst>
          </a:prstGeom>
          <a:solidFill>
            <a:srgbClr val="161E27"/>
          </a:solidFill>
          <a:ln w="12700">
            <a:solidFill>
              <a:srgbClr val="2A3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4151376"/>
            <a:ext cx="2514600" cy="7498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EAF0F5"/>
                </a:solidFill>
                <a:latin typeface="Segoe UI"/>
              </a:rPr>
              <a:t>Mapa urządzeń (plik)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151376"/>
            <a:ext cx="3063240" cy="7498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8B98A6"/>
                </a:solidFill>
                <a:latin typeface="Segoe UI"/>
              </a:rPr>
              <a:t>Auto na starcie / restart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151376"/>
            <a:ext cx="2971800" cy="7498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8B98A6"/>
                </a:solidFill>
                <a:latin typeface="Segoe UI"/>
              </a:rPr>
              <a:t>1 skompresowany transfer zamiast ~94 pakietów; supervisor pokazuje nazwy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01200" y="4361688"/>
            <a:ext cx="1737360" cy="310896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3FD0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0" y="4352544"/>
            <a:ext cx="1737360" cy="32918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3FD07F"/>
                </a:solidFill>
                <a:latin typeface="Segoe UI"/>
              </a:rPr>
              <a:t>PASS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047488"/>
            <a:ext cx="11109960" cy="841248"/>
          </a:xfrm>
          <a:prstGeom prst="roundRect">
            <a:avLst>
              <a:gd name="adj" fmla="val 6000"/>
            </a:avLst>
          </a:prstGeom>
          <a:solidFill>
            <a:srgbClr val="161E27"/>
          </a:solidFill>
          <a:ln w="12700">
            <a:solidFill>
              <a:srgbClr val="2A3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5102352"/>
            <a:ext cx="2514600" cy="7498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EAF0F5"/>
                </a:solidFill>
                <a:latin typeface="Segoe UI"/>
              </a:rPr>
              <a:t>Niezawodność transferów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5102352"/>
            <a:ext cx="3063240" cy="7498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8B98A6"/>
                </a:solidFill>
                <a:latin typeface="Segoe UI"/>
              </a:rPr>
              <a:t>Wymuś ruch podczas transferu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5102352"/>
            <a:ext cx="2971800" cy="7498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8B98A6"/>
                </a:solidFill>
                <a:latin typeface="Segoe UI"/>
              </a:rPr>
              <a:t>Transfer kończy się (ACK ok), okno TX = czyste chunk↔cack, 0 kolizji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601200" y="5312664"/>
            <a:ext cx="1737360" cy="310896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3FD0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01200" y="5303520"/>
            <a:ext cx="1737360" cy="32918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3FD07F"/>
                </a:solidFill>
                <a:latin typeface="Segoe UI"/>
              </a:rPr>
              <a:t>PASS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044184"/>
            <a:ext cx="111099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2BC4DA"/>
                </a:solidFill>
                <a:latin typeface="Segoe UI"/>
              </a:rPr>
              <a:t>Efektywność: kanał w spoczynku ~1 transfer/17 min — NIE zapycha. Serializacja: dwa transfery nie kolidują.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BC4DA"/>
                </a:solidFill>
                <a:latin typeface="Segoe UI"/>
              </a:rPr>
              <a:t>PROCEDURA D · STEROWANIE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41248"/>
            <a:ext cx="822960" cy="38100"/>
          </a:xfrm>
          <a:prstGeom prst="rect">
            <a:avLst/>
          </a:prstGeom>
          <a:solidFill>
            <a:srgbClr val="2BC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115568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EAF0F5"/>
                </a:solidFill>
                <a:latin typeface="Segoe UI"/>
              </a:rPr>
              <a:t>Test sterowania przekaźnikami i I/O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260604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8B98A6"/>
                </a:solidFill>
                <a:latin typeface="Segoe UI"/>
              </a:rPr>
              <a:t>FUNKCJA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737360"/>
            <a:ext cx="315468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8B98A6"/>
                </a:solidFill>
                <a:latin typeface="Segoe UI"/>
              </a:rPr>
              <a:t>JAK WYWOŁAĆ (dashboard)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306324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8B98A6"/>
                </a:solidFill>
                <a:latin typeface="Segoe UI"/>
              </a:rPr>
              <a:t>OCZEKIWANY WYNIK / weryfikacja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1737360"/>
            <a:ext cx="210312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8B98A6"/>
                </a:solidFill>
                <a:latin typeface="Segoe UI"/>
              </a:rPr>
              <a:t>STATUS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11109960" cy="15240"/>
          </a:xfrm>
          <a:prstGeom prst="rect">
            <a:avLst/>
          </a:prstGeom>
          <a:solidFill>
            <a:srgbClr val="2A3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2194560"/>
            <a:ext cx="11109960" cy="841248"/>
          </a:xfrm>
          <a:prstGeom prst="roundRect">
            <a:avLst>
              <a:gd name="adj" fmla="val 6000"/>
            </a:avLst>
          </a:prstGeom>
          <a:solidFill>
            <a:srgbClr val="161E27"/>
          </a:solidFill>
          <a:ln w="12700">
            <a:solidFill>
              <a:srgbClr val="2A3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249424"/>
            <a:ext cx="2514600" cy="7498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EAF0F5"/>
                </a:solidFill>
                <a:latin typeface="Segoe UI"/>
              </a:rPr>
              <a:t>Przekaźnik ON/OFF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249424"/>
            <a:ext cx="3063240" cy="7498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8B98A6"/>
                </a:solidFill>
                <a:latin typeface="Segoe UI"/>
              </a:rPr>
              <a:t>Klik kafla urządzenia / przełącznik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249424"/>
            <a:ext cx="2971800" cy="7498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8B98A6"/>
                </a:solidFill>
                <a:latin typeface="Segoe UI"/>
              </a:rPr>
              <a:t>cmd → Z2M set → st ze sprzężeniem; stan odbity w HA obu stron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0" y="2459736"/>
            <a:ext cx="1737360" cy="310896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3FD0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0" y="2450592"/>
            <a:ext cx="1737360" cy="32918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3FD07F"/>
                </a:solidFill>
                <a:latin typeface="Segoe UI"/>
              </a:rPr>
              <a:t>PASS*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145536"/>
            <a:ext cx="11109960" cy="841248"/>
          </a:xfrm>
          <a:prstGeom prst="roundRect">
            <a:avLst>
              <a:gd name="adj" fmla="val 6000"/>
            </a:avLst>
          </a:prstGeom>
          <a:solidFill>
            <a:srgbClr val="161E27"/>
          </a:solidFill>
          <a:ln w="12700">
            <a:solidFill>
              <a:srgbClr val="2A3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200400"/>
            <a:ext cx="2514600" cy="7498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EAF0F5"/>
                </a:solidFill>
                <a:latin typeface="Segoe UI"/>
              </a:rPr>
              <a:t>Zmiana zewnętrzna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3200400"/>
            <a:ext cx="3063240" cy="7498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8B98A6"/>
                </a:solidFill>
                <a:latin typeface="Segoe UI"/>
              </a:rPr>
              <a:t>Fizyczny przycisk / bezpośrednio Z2M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200400"/>
            <a:ext cx="2971800" cy="7498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8B98A6"/>
                </a:solidFill>
                <a:latin typeface="Segoe UI"/>
              </a:rPr>
              <a:t>Bramka wysyła st → supervisor aktualizuje stan + licznik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0" y="3410712"/>
            <a:ext cx="1737360" cy="310896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3FD0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0" y="3401568"/>
            <a:ext cx="1737360" cy="32918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3FD07F"/>
                </a:solidFill>
                <a:latin typeface="Segoe UI"/>
              </a:rPr>
              <a:t>PASS*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096512"/>
            <a:ext cx="11109960" cy="841248"/>
          </a:xfrm>
          <a:prstGeom prst="roundRect">
            <a:avLst>
              <a:gd name="adj" fmla="val 6000"/>
            </a:avLst>
          </a:prstGeom>
          <a:solidFill>
            <a:srgbClr val="161E27"/>
          </a:solidFill>
          <a:ln w="12700">
            <a:solidFill>
              <a:srgbClr val="2A3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4151376"/>
            <a:ext cx="2514600" cy="7498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EAF0F5"/>
                </a:solidFill>
                <a:latin typeface="Segoe UI"/>
              </a:rPr>
              <a:t>Retry / timeout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151376"/>
            <a:ext cx="3063240" cy="7498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8B98A6"/>
                </a:solidFill>
                <a:latin typeface="Segoe UI"/>
              </a:rPr>
              <a:t>Steruj urządzeniem offline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151376"/>
            <a:ext cx="2971800" cy="7498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8B98A6"/>
                </a:solidFill>
                <a:latin typeface="Segoe UI"/>
              </a:rPr>
              <a:t>Retry ×N → timeout → oznaczenie offline (round-trip test)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01200" y="4361688"/>
            <a:ext cx="1737360" cy="310896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E0A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0" y="4352544"/>
            <a:ext cx="1737360" cy="32918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E0A63A"/>
                </a:solidFill>
                <a:latin typeface="Segoe UI"/>
              </a:rPr>
              <a:t>CZĘŚC.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047488"/>
            <a:ext cx="11109960" cy="841248"/>
          </a:xfrm>
          <a:prstGeom prst="roundRect">
            <a:avLst>
              <a:gd name="adj" fmla="val 6000"/>
            </a:avLst>
          </a:prstGeom>
          <a:solidFill>
            <a:srgbClr val="161E27"/>
          </a:solidFill>
          <a:ln w="12700">
            <a:solidFill>
              <a:srgbClr val="2A3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5102352"/>
            <a:ext cx="2514600" cy="7498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EAF0F5"/>
                </a:solidFill>
                <a:latin typeface="Segoe UI"/>
              </a:rPr>
              <a:t>Virtual I/O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5102352"/>
            <a:ext cx="3063240" cy="7498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8B98A6"/>
                </a:solidFill>
                <a:latin typeface="Segoe UI"/>
              </a:rPr>
              <a:t>Klik VSwitch / VButton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5102352"/>
            <a:ext cx="2971800" cy="7498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8B98A6"/>
                </a:solidFill>
                <a:latin typeface="Segoe UI"/>
              </a:rPr>
              <a:t>Optimistic stan w HA → realny vsw_st potwierdza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601200" y="5312664"/>
            <a:ext cx="1737360" cy="310896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3FD0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01200" y="5303520"/>
            <a:ext cx="1737360" cy="32918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3FD07F"/>
                </a:solidFill>
                <a:latin typeface="Segoe UI"/>
              </a:rPr>
              <a:t>PASS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044184"/>
            <a:ext cx="111099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2BC4DA"/>
                </a:solidFill>
                <a:latin typeface="Segoe UI"/>
              </a:rPr>
              <a:t>*Backend zweryfikowany; test klik-z-dashboardu na online-switchu do domknięcia (większość urządz. testbedu offline).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BC4DA"/>
                </a:solidFill>
                <a:latin typeface="Segoe UI"/>
              </a:rPr>
              <a:t>PROCEDURA E · ANOMALIE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41248"/>
            <a:ext cx="822960" cy="38100"/>
          </a:xfrm>
          <a:prstGeom prst="rect">
            <a:avLst/>
          </a:prstGeom>
          <a:solidFill>
            <a:srgbClr val="2BC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115568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EAF0F5"/>
                </a:solidFill>
                <a:latin typeface="Segoe UI"/>
              </a:rPr>
              <a:t>Test wykrywania i raportowania anomalii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260604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8B98A6"/>
                </a:solidFill>
                <a:latin typeface="Segoe UI"/>
              </a:rPr>
              <a:t>FUNKCJA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737360"/>
            <a:ext cx="315468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8B98A6"/>
                </a:solidFill>
                <a:latin typeface="Segoe UI"/>
              </a:rPr>
              <a:t>JAK WYWOŁAĆ (dashboard)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306324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8B98A6"/>
                </a:solidFill>
                <a:latin typeface="Segoe UI"/>
              </a:rPr>
              <a:t>OCZEKIWANY WYNIK / weryfikacja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1737360"/>
            <a:ext cx="210312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8B98A6"/>
                </a:solidFill>
                <a:latin typeface="Segoe UI"/>
              </a:rPr>
              <a:t>STATUS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11109960" cy="15240"/>
          </a:xfrm>
          <a:prstGeom prst="rect">
            <a:avLst/>
          </a:prstGeom>
          <a:solidFill>
            <a:srgbClr val="2A3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2194560"/>
            <a:ext cx="11109960" cy="841248"/>
          </a:xfrm>
          <a:prstGeom prst="roundRect">
            <a:avLst>
              <a:gd name="adj" fmla="val 6000"/>
            </a:avLst>
          </a:prstGeom>
          <a:solidFill>
            <a:srgbClr val="161E27"/>
          </a:solidFill>
          <a:ln w="12700">
            <a:solidFill>
              <a:srgbClr val="2A3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249424"/>
            <a:ext cx="2514600" cy="7498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EAF0F5"/>
                </a:solidFill>
                <a:latin typeface="Segoe UI"/>
              </a:rPr>
              <a:t>Offline (wszystkie dev)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249424"/>
            <a:ext cx="3063240" cy="7498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8B98A6"/>
                </a:solidFill>
                <a:latin typeface="Segoe UI"/>
              </a:rPr>
              <a:t>Wstrzyknij / odłącz urządzenie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249424"/>
            <a:ext cx="2971800" cy="7498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8B98A6"/>
                </a:solidFill>
                <a:latin typeface="Segoe UI"/>
              </a:rPr>
              <a:t>Wykryte też SPOZA monitored (RA*/Button); blob ansnap → supervisor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0" y="2459736"/>
            <a:ext cx="1737360" cy="310896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3FD0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0" y="2450592"/>
            <a:ext cx="1737360" cy="32918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3FD07F"/>
                </a:solidFill>
                <a:latin typeface="Segoe UI"/>
              </a:rPr>
              <a:t>PASS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145536"/>
            <a:ext cx="11109960" cy="841248"/>
          </a:xfrm>
          <a:prstGeom prst="roundRect">
            <a:avLst>
              <a:gd name="adj" fmla="val 6000"/>
            </a:avLst>
          </a:prstGeom>
          <a:solidFill>
            <a:srgbClr val="161E27"/>
          </a:solidFill>
          <a:ln w="12700">
            <a:solidFill>
              <a:srgbClr val="2A3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200400"/>
            <a:ext cx="2514600" cy="7498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EAF0F5"/>
                </a:solidFill>
                <a:latin typeface="Segoe UI"/>
              </a:rPr>
              <a:t>Temp/Wilg. high-low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3200400"/>
            <a:ext cx="3063240" cy="7498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8B98A6"/>
                </a:solidFill>
                <a:latin typeface="Segoe UI"/>
              </a:rPr>
              <a:t>Wstrzyknij wartość poza progiem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200400"/>
            <a:ext cx="2971800" cy="7498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8B98A6"/>
                </a:solidFill>
                <a:latin typeface="Segoe UI"/>
              </a:rPr>
              <a:t>4 typy (th/tl/hh/hl) z wartością na kaflu INNE, obie strony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0" y="3410712"/>
            <a:ext cx="1737360" cy="310896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3FD0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0" y="3401568"/>
            <a:ext cx="1737360" cy="32918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3FD07F"/>
                </a:solidFill>
                <a:latin typeface="Segoe UI"/>
              </a:rPr>
              <a:t>PASS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096512"/>
            <a:ext cx="11109960" cy="841248"/>
          </a:xfrm>
          <a:prstGeom prst="roundRect">
            <a:avLst>
              <a:gd name="adj" fmla="val 6000"/>
            </a:avLst>
          </a:prstGeom>
          <a:solidFill>
            <a:srgbClr val="161E27"/>
          </a:solidFill>
          <a:ln w="12700">
            <a:solidFill>
              <a:srgbClr val="2A3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4151376"/>
            <a:ext cx="2514600" cy="7498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EAF0F5"/>
                </a:solidFill>
                <a:latin typeface="Segoe UI"/>
              </a:rPr>
              <a:t>Bateria krytyczna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151376"/>
            <a:ext cx="3063240" cy="7498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8B98A6"/>
                </a:solidFill>
                <a:latin typeface="Segoe UI"/>
              </a:rPr>
              <a:t>Wstrzyknij bateria &lt; próg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151376"/>
            <a:ext cx="2971800" cy="7498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8B98A6"/>
                </a:solidFill>
                <a:latin typeface="Segoe UI"/>
              </a:rPr>
              <a:t>critical_battery z %; „Dump” wymusza świeży check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01200" y="4361688"/>
            <a:ext cx="1737360" cy="310896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3FD0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0" y="4352544"/>
            <a:ext cx="1737360" cy="32918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3FD07F"/>
                </a:solidFill>
                <a:latin typeface="Segoe UI"/>
              </a:rPr>
              <a:t>PASS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047488"/>
            <a:ext cx="11109960" cy="841248"/>
          </a:xfrm>
          <a:prstGeom prst="roundRect">
            <a:avLst>
              <a:gd name="adj" fmla="val 6000"/>
            </a:avLst>
          </a:prstGeom>
          <a:solidFill>
            <a:srgbClr val="161E27"/>
          </a:solidFill>
          <a:ln w="12700">
            <a:solidFill>
              <a:srgbClr val="2A3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5102352"/>
            <a:ext cx="2514600" cy="7498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EAF0F5"/>
                </a:solidFill>
                <a:latin typeface="Segoe UI"/>
              </a:rPr>
              <a:t>Clear (hurt / pojedynczo)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5102352"/>
            <a:ext cx="3063240" cy="7498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8B98A6"/>
                </a:solidFill>
                <a:latin typeface="Segoe UI"/>
              </a:rPr>
              <a:t>Klik „Offline/Bateria/Inne Gx” / wiersz popupu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5102352"/>
            <a:ext cx="2971800" cy="7498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8B98A6"/>
                </a:solidFill>
                <a:latin typeface="Segoe UI"/>
              </a:rPr>
              <a:t>Kompaktowa flaga → bramka czyści cały kubełek; self-clear na recovery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601200" y="5312664"/>
            <a:ext cx="1737360" cy="310896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3FD0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01200" y="5303520"/>
            <a:ext cx="1737360" cy="32918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3FD07F"/>
                </a:solidFill>
                <a:latin typeface="Segoe UI"/>
              </a:rPr>
              <a:t>PASS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044184"/>
            <a:ext cx="111099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2BC4DA"/>
                </a:solidFill>
                <a:latin typeface="Segoe UI"/>
              </a:rPr>
              <a:t>Stagnacja (72 h) / dym / zalanie — kod obecny, wymaga urządzeń/warunków do wyzwolenia.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BC4DA"/>
                </a:solidFill>
                <a:latin typeface="Segoe UI"/>
              </a:rPr>
              <a:t>PROCEDURA F/G/H · HARMONOGRAM, PARAMETRY, CZAS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41248"/>
            <a:ext cx="822960" cy="38100"/>
          </a:xfrm>
          <a:prstGeom prst="rect">
            <a:avLst/>
          </a:prstGeom>
          <a:solidFill>
            <a:srgbClr val="2BC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115568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EAF0F5"/>
                </a:solidFill>
                <a:latin typeface="Segoe UI"/>
              </a:rPr>
              <a:t>Test kalendarza, progów i synchronizacji czasu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260604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8B98A6"/>
                </a:solidFill>
                <a:latin typeface="Segoe UI"/>
              </a:rPr>
              <a:t>FUNKCJA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737360"/>
            <a:ext cx="315468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8B98A6"/>
                </a:solidFill>
                <a:latin typeface="Segoe UI"/>
              </a:rPr>
              <a:t>JAK WYWOŁAĆ (dashboard)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306324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8B98A6"/>
                </a:solidFill>
                <a:latin typeface="Segoe UI"/>
              </a:rPr>
              <a:t>OCZEKIWANY WYNIK / weryfikacja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1737360"/>
            <a:ext cx="210312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8B98A6"/>
                </a:solidFill>
                <a:latin typeface="Segoe UI"/>
              </a:rPr>
              <a:t>STATUS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11109960" cy="15240"/>
          </a:xfrm>
          <a:prstGeom prst="rect">
            <a:avLst/>
          </a:prstGeom>
          <a:solidFill>
            <a:srgbClr val="2A3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2194560"/>
            <a:ext cx="11109960" cy="841248"/>
          </a:xfrm>
          <a:prstGeom prst="roundRect">
            <a:avLst>
              <a:gd name="adj" fmla="val 6000"/>
            </a:avLst>
          </a:prstGeom>
          <a:solidFill>
            <a:srgbClr val="161E27"/>
          </a:solidFill>
          <a:ln w="12700">
            <a:solidFill>
              <a:srgbClr val="2A3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249424"/>
            <a:ext cx="2514600" cy="7498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EAF0F5"/>
                </a:solidFill>
                <a:latin typeface="Segoe UI"/>
              </a:rPr>
              <a:t>Kalendarz push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249424"/>
            <a:ext cx="3063240" cy="7498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8B98A6"/>
                </a:solidFill>
                <a:latin typeface="Segoe UI"/>
              </a:rPr>
              <a:t>Klik „Push → Gx” / „Push → GLOBAL”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249424"/>
            <a:ext cx="2971800" cy="7498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8B98A6"/>
                </a:solidFill>
                <a:latin typeface="Segoe UI"/>
              </a:rPr>
              <a:t>Transfer cal → fizyczna aktualizacja calendar.lora_gx (WS create_event)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0" y="2459736"/>
            <a:ext cx="1737360" cy="310896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3FD0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0" y="2450592"/>
            <a:ext cx="1737360" cy="32918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3FD07F"/>
                </a:solidFill>
                <a:latin typeface="Segoe UI"/>
              </a:rPr>
              <a:t>PASS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145536"/>
            <a:ext cx="11109960" cy="841248"/>
          </a:xfrm>
          <a:prstGeom prst="roundRect">
            <a:avLst>
              <a:gd name="adj" fmla="val 6000"/>
            </a:avLst>
          </a:prstGeom>
          <a:solidFill>
            <a:srgbClr val="161E27"/>
          </a:solidFill>
          <a:ln w="12700">
            <a:solidFill>
              <a:srgbClr val="2A3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200400"/>
            <a:ext cx="2514600" cy="7498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EAF0F5"/>
                </a:solidFill>
                <a:latin typeface="Segoe UI"/>
              </a:rPr>
              <a:t>Kalendarz CRUD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3200400"/>
            <a:ext cx="3063240" cy="7498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8B98A6"/>
                </a:solidFill>
                <a:latin typeface="Segoe UI"/>
              </a:rPr>
              <a:t>Dodaj/usuń/zmień event w HA → push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200400"/>
            <a:ext cx="2971800" cy="7498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8B98A6"/>
                </a:solidFill>
                <a:latin typeface="Segoe UI"/>
              </a:rPr>
              <a:t>Replace: różne typy, wiele/dzień, zmiana godzin i typów odbite na bramce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0" y="3410712"/>
            <a:ext cx="1737360" cy="310896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3FD0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0" y="3401568"/>
            <a:ext cx="1737360" cy="32918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3FD07F"/>
                </a:solidFill>
                <a:latin typeface="Segoe UI"/>
              </a:rPr>
              <a:t>PASS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096512"/>
            <a:ext cx="11109960" cy="841248"/>
          </a:xfrm>
          <a:prstGeom prst="roundRect">
            <a:avLst>
              <a:gd name="adj" fmla="val 6000"/>
            </a:avLst>
          </a:prstGeom>
          <a:solidFill>
            <a:srgbClr val="161E27"/>
          </a:solidFill>
          <a:ln w="12700">
            <a:solidFill>
              <a:srgbClr val="2A3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4151376"/>
            <a:ext cx="2514600" cy="7498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EAF0F5"/>
                </a:solidFill>
                <a:latin typeface="Segoe UI"/>
              </a:rPr>
              <a:t>Parametry per-bramka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151376"/>
            <a:ext cx="3063240" cy="7498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8B98A6"/>
                </a:solidFill>
                <a:latin typeface="Segoe UI"/>
              </a:rPr>
              <a:t>Klik „Config/Timeout/Progi Gx”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151376"/>
            <a:ext cx="2971800" cy="7498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8B98A6"/>
                </a:solidFill>
                <a:latin typeface="Segoe UI"/>
              </a:rPr>
              <a:t>Bramka RX params → zastosowano + confirm; strojenie bez restartu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01200" y="4361688"/>
            <a:ext cx="1737360" cy="310896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3FD0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0" y="4352544"/>
            <a:ext cx="1737360" cy="32918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3FD07F"/>
                </a:solidFill>
                <a:latin typeface="Segoe UI"/>
              </a:rPr>
              <a:t>PASS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047488"/>
            <a:ext cx="11109960" cy="841248"/>
          </a:xfrm>
          <a:prstGeom prst="roundRect">
            <a:avLst>
              <a:gd name="adj" fmla="val 6000"/>
            </a:avLst>
          </a:prstGeom>
          <a:solidFill>
            <a:srgbClr val="161E27"/>
          </a:solidFill>
          <a:ln w="12700">
            <a:solidFill>
              <a:srgbClr val="2A3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5102352"/>
            <a:ext cx="2514600" cy="7498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EAF0F5"/>
                </a:solidFill>
                <a:latin typeface="Segoe UI"/>
              </a:rPr>
              <a:t>Synchronizacja czasu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5102352"/>
            <a:ext cx="3063240" cy="7498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8B98A6"/>
                </a:solidFill>
                <a:latin typeface="Segoe UI"/>
              </a:rPr>
              <a:t>Auto (NTP) + klik „Czas Gx”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5102352"/>
            <a:ext cx="2971800" cy="7498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8B98A6"/>
                </a:solidFill>
                <a:latin typeface="Segoe UI"/>
              </a:rPr>
              <a:t>Skew maszyn &lt; 1 s; tryb dzień/noc z równania solarnego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601200" y="5312664"/>
            <a:ext cx="1737360" cy="310896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3FD0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01200" y="5303520"/>
            <a:ext cx="1737360" cy="32918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3FD07F"/>
                </a:solidFill>
                <a:latin typeface="Segoe UI"/>
              </a:rPr>
              <a:t>PASS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044184"/>
            <a:ext cx="111099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2BC4DA"/>
                </a:solidFill>
                <a:latin typeface="Segoe UI"/>
              </a:rPr>
              <a:t>Uwaga: kalendarz i tryb produkcji zależą od czasu — NTP musi działać na obu maszynach (naprawione).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BC4DA"/>
                </a:solidFill>
                <a:latin typeface="Segoe UI"/>
              </a:rPr>
              <a:t>AUDYT · CO ZNALEZIONO I NAPRAWIONO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41248"/>
            <a:ext cx="822960" cy="38100"/>
          </a:xfrm>
          <a:prstGeom prst="rect">
            <a:avLst/>
          </a:prstGeom>
          <a:solidFill>
            <a:srgbClr val="2BC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EAF0F5"/>
                </a:solidFill>
                <a:latin typeface="Segoe UI"/>
              </a:rPr>
              <a:t>Nieprawidłowości wykryte testem — i ich status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11109960" cy="786384"/>
          </a:xfrm>
          <a:prstGeom prst="roundRect">
            <a:avLst>
              <a:gd name="adj" fmla="val 6000"/>
            </a:avLst>
          </a:prstGeom>
          <a:solidFill>
            <a:srgbClr val="161E27"/>
          </a:solidFill>
          <a:ln w="12700">
            <a:solidFill>
              <a:srgbClr val="2A3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109728" cy="786384"/>
          </a:xfrm>
          <a:prstGeom prst="roundRect">
            <a:avLst>
              <a:gd name="adj" fmla="val 6000"/>
            </a:avLst>
          </a:prstGeom>
          <a:solidFill>
            <a:srgbClr val="3FD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640080" cy="69494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3FD07F"/>
                </a:solidFill>
                <a:latin typeface="Segoe UI"/>
              </a:rPr>
              <a:t>F1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764792"/>
            <a:ext cx="4846320" cy="67665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EAF0F5"/>
                </a:solidFill>
                <a:latin typeface="Segoe UI"/>
              </a:rPr>
              <a:t>Skew zegara ~75 s (NTP wyłączony na supervisorze)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764792"/>
            <a:ext cx="3474720" cy="67665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8B98A6"/>
                </a:solidFill>
                <a:latin typeface="Segoe UI"/>
              </a:rPr>
              <a:t>Włączono NTP (timesyncd) — skew &lt; 1 s. Trwałe.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12680" y="1929384"/>
            <a:ext cx="1600200" cy="310896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3FD0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12680" y="1920240"/>
            <a:ext cx="1600200" cy="32918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3FD07F"/>
                </a:solidFill>
                <a:latin typeface="Segoe UI"/>
              </a:rPr>
              <a:t>NAPRAWIONE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569464"/>
            <a:ext cx="11109960" cy="786384"/>
          </a:xfrm>
          <a:prstGeom prst="roundRect">
            <a:avLst>
              <a:gd name="adj" fmla="val 6000"/>
            </a:avLst>
          </a:prstGeom>
          <a:solidFill>
            <a:srgbClr val="161E27"/>
          </a:solidFill>
          <a:ln w="12700">
            <a:solidFill>
              <a:srgbClr val="2A3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2569464"/>
            <a:ext cx="109728" cy="786384"/>
          </a:xfrm>
          <a:prstGeom prst="roundRect">
            <a:avLst>
              <a:gd name="adj" fmla="val 6000"/>
            </a:avLst>
          </a:prstGeom>
          <a:solidFill>
            <a:srgbClr val="3FD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615184"/>
            <a:ext cx="640080" cy="69494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3FD07F"/>
                </a:solidFill>
                <a:latin typeface="Segoe UI"/>
              </a:rPr>
              <a:t>F2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2642616"/>
            <a:ext cx="4846320" cy="67665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EAF0F5"/>
                </a:solidFill>
                <a:latin typeface="Segoe UI"/>
              </a:rPr>
              <a:t>„Clear offline” słał ~4 KB (192 nazwy) &gt;&gt; limit 220 B → cicho ginął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642616"/>
            <a:ext cx="3474720" cy="67665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8B98A6"/>
                </a:solidFill>
                <a:latin typeface="Segoe UI"/>
              </a:rPr>
              <a:t>Kompaktowa flaga ac_all (~35 B) + guard &gt;220 B w LoRa.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12680" y="2807208"/>
            <a:ext cx="1600200" cy="310896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3FD0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12680" y="2798064"/>
            <a:ext cx="1600200" cy="32918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3FD07F"/>
                </a:solidFill>
                <a:latin typeface="Segoe UI"/>
              </a:rPr>
              <a:t>NAPRAWIONE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447288"/>
            <a:ext cx="11109960" cy="786384"/>
          </a:xfrm>
          <a:prstGeom prst="roundRect">
            <a:avLst>
              <a:gd name="adj" fmla="val 6000"/>
            </a:avLst>
          </a:prstGeom>
          <a:solidFill>
            <a:srgbClr val="161E27"/>
          </a:solidFill>
          <a:ln w="12700">
            <a:solidFill>
              <a:srgbClr val="2A3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48640" y="3447288"/>
            <a:ext cx="109728" cy="786384"/>
          </a:xfrm>
          <a:prstGeom prst="roundRect">
            <a:avLst>
              <a:gd name="adj" fmla="val 6000"/>
            </a:avLst>
          </a:prstGeom>
          <a:solidFill>
            <a:srgbClr val="3FD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493008"/>
            <a:ext cx="640080" cy="69494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3FD07F"/>
                </a:solidFill>
                <a:latin typeface="Segoe UI"/>
              </a:rPr>
              <a:t>F3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3520440"/>
            <a:ext cx="4846320" cy="67665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EAF0F5"/>
                </a:solidFill>
                <a:latin typeface="Segoe UI"/>
              </a:rPr>
              <a:t>Burst komend gubił je (brak cooldown w wątku TX)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520440"/>
            <a:ext cx="3474720" cy="67665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8B98A6"/>
                </a:solidFill>
                <a:latin typeface="Segoe UI"/>
              </a:rPr>
              <a:t>Min-spacing 2 s dławi bursty — 3/3 komend dochodzi.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12680" y="3685032"/>
            <a:ext cx="1600200" cy="310896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3FD0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12680" y="3675888"/>
            <a:ext cx="1600200" cy="32918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3FD07F"/>
                </a:solidFill>
                <a:latin typeface="Segoe UI"/>
              </a:rPr>
              <a:t>NAPRAWIONE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325112"/>
            <a:ext cx="11109960" cy="786384"/>
          </a:xfrm>
          <a:prstGeom prst="roundRect">
            <a:avLst>
              <a:gd name="adj" fmla="val 6000"/>
            </a:avLst>
          </a:prstGeom>
          <a:solidFill>
            <a:srgbClr val="161E27"/>
          </a:solidFill>
          <a:ln w="12700">
            <a:solidFill>
              <a:srgbClr val="2A3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48640" y="4325112"/>
            <a:ext cx="109728" cy="786384"/>
          </a:xfrm>
          <a:prstGeom prst="roundRect">
            <a:avLst>
              <a:gd name="adj" fmla="val 6000"/>
            </a:avLst>
          </a:prstGeom>
          <a:solidFill>
            <a:srgbClr val="E0A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4370832"/>
            <a:ext cx="640080" cy="69494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E0A63A"/>
                </a:solidFill>
                <a:latin typeface="Segoe UI"/>
              </a:rPr>
              <a:t>F4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4398264"/>
            <a:ext cx="4846320" cy="67665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EAF0F5"/>
                </a:solidFill>
                <a:latin typeface="Segoe UI"/>
              </a:rPr>
              <a:t>Wielobramkowość nietestowana z 2 żywymi bramkami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398264"/>
            <a:ext cx="3474720" cy="67665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8B98A6"/>
                </a:solidFill>
                <a:latin typeface="Segoe UI"/>
              </a:rPr>
              <a:t>Adresowanie/filtr OK; slotowanie/agregacja czeka na 2. bramkę.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012680" y="4562856"/>
            <a:ext cx="1600200" cy="310896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E0A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12680" y="4553712"/>
            <a:ext cx="1600200" cy="32918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E0A63A"/>
                </a:solidFill>
                <a:latin typeface="Segoe UI"/>
              </a:rPr>
              <a:t>OTWARTE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202936"/>
            <a:ext cx="11109960" cy="786384"/>
          </a:xfrm>
          <a:prstGeom prst="roundRect">
            <a:avLst>
              <a:gd name="adj" fmla="val 6000"/>
            </a:avLst>
          </a:prstGeom>
          <a:solidFill>
            <a:srgbClr val="161E27"/>
          </a:solidFill>
          <a:ln w="12700">
            <a:solidFill>
              <a:srgbClr val="2A3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48640" y="5202936"/>
            <a:ext cx="109728" cy="786384"/>
          </a:xfrm>
          <a:prstGeom prst="roundRect">
            <a:avLst>
              <a:gd name="adj" fmla="val 6000"/>
            </a:avLst>
          </a:prstGeom>
          <a:solidFill>
            <a:srgbClr val="8B9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5248656"/>
            <a:ext cx="640080" cy="69494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8B98A6"/>
                </a:solidFill>
                <a:latin typeface="Segoe UI"/>
              </a:rPr>
              <a:t>F5-8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63040" y="5276088"/>
            <a:ext cx="4846320" cy="67665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EAF0F5"/>
                </a:solidFill>
                <a:latin typeface="Segoe UI"/>
              </a:rPr>
              <a:t>Drill-down licznika, panel bramki, typy anomalii, TLS, per-gw wartości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5276088"/>
            <a:ext cx="3474720" cy="67665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8B98A6"/>
                </a:solidFill>
                <a:latin typeface="Segoe UI"/>
              </a:rPr>
              <a:t>Kosmetyka/utwardzenie — nie blokuje rdzenia.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012680" y="5440680"/>
            <a:ext cx="1600200" cy="310896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8B9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12680" y="5431536"/>
            <a:ext cx="1600200" cy="32918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8B98A6"/>
                </a:solidFill>
                <a:latin typeface="Segoe UI"/>
              </a:rPr>
              <a:t>DO ZROBIENIA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BC4DA"/>
                </a:solidFill>
                <a:latin typeface="Segoe UI"/>
              </a:rPr>
              <a:t>WERDYKT · GOTOWOŚĆ PRODUKCYJNA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41248"/>
            <a:ext cx="822960" cy="38100"/>
          </a:xfrm>
          <a:prstGeom prst="rect">
            <a:avLst/>
          </a:prstGeom>
          <a:solidFill>
            <a:srgbClr val="2BC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11887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3FD07F"/>
                </a:solidFill>
                <a:latin typeface="Segoe UI"/>
              </a:rPr>
              <a:t>Pilotaż nadzorowany: TAK.</a:t>
            </a:r>
          </a:p>
          <a:p>
            <a:pPr algn="l">
              <a:spcAft>
                <a:spcPts val="200"/>
              </a:spcAft>
            </a:pPr>
            <a:r>
              <a:rPr sz="2000" b="0">
                <a:solidFill>
                  <a:srgbClr val="EAF0F5"/>
                </a:solidFill>
                <a:latin typeface="Segoe UI"/>
              </a:rPr>
              <a:t>Nieobsługiwana produkcja 24/7: dopiero po walidacji 2-bramkowej i utwardzeniu bezpieczeństwa.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651760"/>
            <a:ext cx="3566160" cy="3108960"/>
          </a:xfrm>
          <a:prstGeom prst="roundRect">
            <a:avLst>
              <a:gd name="adj" fmla="val 6000"/>
            </a:avLst>
          </a:prstGeom>
          <a:solidFill>
            <a:srgbClr val="161E27"/>
          </a:solidFill>
          <a:ln w="19050">
            <a:solidFill>
              <a:srgbClr val="3FD0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788920"/>
            <a:ext cx="3200400" cy="2926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3FD07F"/>
                </a:solidFill>
                <a:latin typeface="Segoe UI"/>
              </a:rPr>
              <a:t>SOLIDNE (zaprojektowane poprawnie)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EAF0F5"/>
                </a:solidFill>
                <a:latin typeface="Segoe UI"/>
              </a:rPr>
              <a:t>• Transport LoRa niezawodny pod ruchem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EAF0F5"/>
                </a:solidFill>
                <a:latin typeface="Segoe UI"/>
              </a:rPr>
              <a:t>• Anomalie jako plik (bez zapychania)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EAF0F5"/>
                </a:solidFill>
                <a:latin typeface="Segoe UI"/>
              </a:rPr>
              <a:t>• Adresowanie + filtr per-bramka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EAF0F5"/>
                </a:solidFill>
                <a:latin typeface="Segoe UI"/>
              </a:rPr>
              <a:t>• Kalendarz fizyczny (WS)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EAF0F5"/>
                </a:solidFill>
                <a:latin typeface="Segoe UI"/>
              </a:rPr>
              <a:t>• Statusy live + sterowanie z dashboardu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EAF0F5"/>
                </a:solidFill>
                <a:latin typeface="Segoe UI"/>
              </a:rPr>
              <a:t>• Synchronizacja czasu (naprawiona)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2651760"/>
            <a:ext cx="3566160" cy="3108960"/>
          </a:xfrm>
          <a:prstGeom prst="roundRect">
            <a:avLst>
              <a:gd name="adj" fmla="val 6000"/>
            </a:avLst>
          </a:prstGeom>
          <a:solidFill>
            <a:srgbClr val="161E27"/>
          </a:solidFill>
          <a:ln w="19050">
            <a:solidFill>
              <a:srgbClr val="3FD0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2788920"/>
            <a:ext cx="3200400" cy="2926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BC4DA"/>
                </a:solidFill>
                <a:latin typeface="Segoe UI"/>
              </a:rPr>
              <a:t>NAPRAWIONE W AUDYCIE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EAF0F5"/>
                </a:solidFill>
                <a:latin typeface="Segoe UI"/>
              </a:rPr>
              <a:t>• NTP (skew 75 s → &lt;1 s)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EAF0F5"/>
                </a:solidFill>
                <a:latin typeface="Segoe UI"/>
              </a:rPr>
              <a:t>• Clear-all: 4 KB → 35 B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EAF0F5"/>
                </a:solidFill>
                <a:latin typeface="Segoe UI"/>
              </a:rPr>
              <a:t>• Burst komend: 1/3 → 3/3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EAF0F5"/>
                </a:solidFill>
                <a:latin typeface="Segoe UI"/>
              </a:rPr>
              <a:t>• Guard &gt;220 B w warstwie LoRa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EAF0F5"/>
                </a:solidFill>
                <a:latin typeface="Segoe UI"/>
              </a:rPr>
              <a:t>• Dump wymusza świeży check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2651760"/>
            <a:ext cx="3611880" cy="3108960"/>
          </a:xfrm>
          <a:prstGeom prst="roundRect">
            <a:avLst>
              <a:gd name="adj" fmla="val 6000"/>
            </a:avLst>
          </a:prstGeom>
          <a:solidFill>
            <a:srgbClr val="161E27"/>
          </a:solidFill>
          <a:ln w="19050">
            <a:solidFill>
              <a:srgbClr val="E0A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2788920"/>
            <a:ext cx="3246120" cy="2926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E0A63A"/>
                </a:solidFill>
                <a:latin typeface="Segoe UI"/>
              </a:rPr>
              <a:t>DO ZAMKNIĘCIA PRZED 24/7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EAF0F5"/>
                </a:solidFill>
                <a:latin typeface="Segoe UI"/>
              </a:rPr>
              <a:t>• Walidacja z 2 żywymi bramkami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8B98A6"/>
                </a:solidFill>
                <a:latin typeface="Segoe UI"/>
              </a:rPr>
              <a:t>  (slotowanie, kolizje, agregacja)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EAF0F5"/>
                </a:solidFill>
                <a:latin typeface="Segoe UI"/>
              </a:rPr>
              <a:t>• TLS / secret management MQTT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EAF0F5"/>
                </a:solidFill>
                <a:latin typeface="Segoe UI"/>
              </a:rPr>
              <a:t>• Wszystkie typy anomalii live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EAF0F5"/>
                </a:solidFill>
                <a:latin typeface="Segoe UI"/>
              </a:rPr>
              <a:t>• Instrukcja wdrożenia + alerting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8B98A6"/>
                </a:solidFill>
                <a:latin typeface="Segoe UI"/>
              </a:rPr>
              <a:t>Rdzeń: monitoring · sterowanie · raportowanie anomalii · harmonogram — działa, przetestowany, efektywny (nie zapycha LoRa). Pozostałe to domknięcie brzegów, nie przebudowa.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