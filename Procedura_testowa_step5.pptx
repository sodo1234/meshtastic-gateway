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270955200000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7C9D8"/>
                </a:solidFill>
                <a:latin typeface="Segoe UI"/>
              </a:rPr>
              <a:t>MESHTASTIC GATEWAY  ·  LoRa / Zigbee SCADA-BMS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8"/>
                </a:solidFill>
                <a:latin typeface="Segoe UI"/>
              </a:rPr>
              <a:t>Procedura testowa STEP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9AAABC"/>
                </a:solidFill>
                <a:latin typeface="Segoe UI"/>
              </a:rPr>
              <a:t>&amp; ocena gotowości do wdrożenia przemysłowego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5120640" cy="41148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607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5F8"/>
                </a:solidFill>
                <a:latin typeface="Segoe UI"/>
              </a:rPr>
              <a:t>Empiryczny pre-test krok-po-kroku  →  klikasz, obserwujesz, zaznaczasz PASS/FAIL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ABC"/>
                </a:solidFill>
                <a:latin typeface="Segoe UI"/>
              </a:rPr>
              <a:t>Stan: pełny tor danych zweryfikowany live 2026-06-27  ·  </a:t>
            </a:r>
            <a:r>
              <a:rPr sz="1300" b="0">
                <a:solidFill>
                  <a:srgbClr val="F2A33C"/>
                </a:solidFill>
                <a:latin typeface="Segoe UI"/>
              </a:rPr>
              <a:t>4/5 testów PASS, anti-spam discovery czeka na restart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Jakub Sodo  ·  2026-06-27  ·  Stellantis Gliwice / Tychy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ZAWARTOŚĆ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Co znajdziesz w tej talii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02920" cy="676656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7C9D8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99616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F5F8"/>
                </a:solidFill>
                <a:latin typeface="Segoe UI"/>
              </a:rPr>
              <a:t>Środowisko i dostęp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AAABC"/>
                </a:solidFill>
                <a:latin typeface="Segoe UI"/>
              </a:rPr>
              <a:t>maszyny, dashboardy, login, jak czytać procedurę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67712"/>
            <a:ext cx="502920" cy="676656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50292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7C9D8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0428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F5F8"/>
                </a:solidFill>
                <a:latin typeface="Segoe UI"/>
              </a:rPr>
              <a:t>Procedura testowa A–F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AAABC"/>
                </a:solidFill>
                <a:latin typeface="Segoe UI"/>
              </a:rPr>
              <a:t>6 bloków: anomalie, kalendarz, czas, discovery/parametry, łączność, redundancja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72384"/>
            <a:ext cx="502920" cy="676656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50292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7C9D8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F5F8"/>
                </a:solidFill>
                <a:latin typeface="Segoe UI"/>
              </a:rPr>
              <a:t>Zbiorcza checklista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AAABC"/>
                </a:solidFill>
                <a:latin typeface="Segoe UI"/>
              </a:rPr>
              <a:t>jedna tabela PASS/FAIL do wydruku / przejścia ręcznego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77056"/>
            <a:ext cx="502920" cy="676656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77056"/>
            <a:ext cx="50292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7C9D8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13632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F5F8"/>
                </a:solidFill>
                <a:latin typeface="Segoe UI"/>
              </a:rPr>
              <a:t>Wyniki pre-testu 2026-06-27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AAABC"/>
                </a:solidFill>
                <a:latin typeface="Segoe UI"/>
              </a:rPr>
              <a:t>co już zweryfikowane live i jak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81728"/>
            <a:ext cx="502920" cy="676656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8"/>
            <a:ext cx="50292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7C9D8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18304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F5F8"/>
                </a:solidFill>
                <a:latin typeface="Segoe UI"/>
              </a:rPr>
              <a:t>Ocena gotowości przemysłowej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AAABC"/>
                </a:solidFill>
                <a:latin typeface="Segoe UI"/>
              </a:rPr>
              <a:t>werdykt + warunki bramkujące (gating)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502920" cy="676656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50292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7C9D8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522976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F5F8"/>
                </a:solidFill>
                <a:latin typeface="Segoe UI"/>
              </a:rPr>
              <a:t>STEP 6 — hardening przemysłowy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AAABC"/>
                </a:solidFill>
                <a:latin typeface="Segoe UI"/>
              </a:rPr>
              <a:t>czego jeszcze brakuje przed 3×bramka / 150 urządzeń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KONTEKST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Architektura w jednym spojrzeniu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084831" cy="1051560"/>
          </a:xfrm>
          <a:prstGeom prst="rect">
            <a:avLst/>
          </a:prstGeom>
          <a:solidFill>
            <a:srgbClr val="14243A"/>
          </a:solidFill>
          <a:ln w="1905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084831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F5F8"/>
                </a:solidFill>
                <a:latin typeface="Segoe UI"/>
              </a:rPr>
              <a:t>Zigbee2MQTT
+ ConBee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3" y="2212848"/>
            <a:ext cx="18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7C9D8"/>
                </a:solidFill>
                <a:latin typeface="Segoe U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3" y="1920240"/>
            <a:ext cx="2084831" cy="1051560"/>
          </a:xfrm>
          <a:prstGeom prst="rect">
            <a:avLst/>
          </a:prstGeom>
          <a:solidFill>
            <a:srgbClr val="14243A"/>
          </a:solidFill>
          <a:ln w="19050">
            <a:solidFill>
              <a:srgbClr val="F2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3" y="1920240"/>
            <a:ext cx="2084831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F5F8"/>
                </a:solidFill>
                <a:latin typeface="Segoe UI"/>
              </a:rPr>
              <a:t>BRAMKA G1
gateway/step5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7" y="2212848"/>
            <a:ext cx="18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7C9D8"/>
                </a:solidFill>
                <a:latin typeface="Segoe U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7488" y="1920240"/>
            <a:ext cx="2084831" cy="1051560"/>
          </a:xfrm>
          <a:prstGeom prst="rect">
            <a:avLst/>
          </a:prstGeom>
          <a:solidFill>
            <a:srgbClr val="14243A"/>
          </a:solidFill>
          <a:ln w="190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920240"/>
            <a:ext cx="2084831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F5F8"/>
                </a:solidFill>
                <a:latin typeface="Segoe UI"/>
              </a:rPr>
              <a:t>LoRa Meshtastic
Heltec V3 868MHz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1" y="2212848"/>
            <a:ext cx="18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7C9D8"/>
                </a:solidFill>
                <a:latin typeface="Segoe U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1192" y="1920240"/>
            <a:ext cx="2084831" cy="1051560"/>
          </a:xfrm>
          <a:prstGeom prst="rect">
            <a:avLst/>
          </a:prstGeom>
          <a:solidFill>
            <a:srgbClr val="14243A"/>
          </a:solidFill>
          <a:ln w="19050">
            <a:solidFill>
              <a:srgbClr val="F2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1920240"/>
            <a:ext cx="2084831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F5F8"/>
                </a:solidFill>
                <a:latin typeface="Segoe UI"/>
              </a:rPr>
              <a:t>SUPERVISOR
agregacja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212848"/>
            <a:ext cx="182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7C9D8"/>
                </a:solidFill>
                <a:latin typeface="Segoe U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54896" y="1920240"/>
            <a:ext cx="2084831" cy="1051560"/>
          </a:xfrm>
          <a:prstGeom prst="rect">
            <a:avLst/>
          </a:prstGeom>
          <a:solidFill>
            <a:srgbClr val="14243A"/>
          </a:solidFill>
          <a:ln w="1905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1920240"/>
            <a:ext cx="2084831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F5F8"/>
                </a:solidFill>
                <a:latin typeface="Segoe UI"/>
              </a:rPr>
              <a:t>Home Assistant
bramka +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ABC"/>
                </a:solidFill>
                <a:latin typeface="Segoe UI"/>
              </a:rPr>
              <a:t>Sterowanie zwrotne (HA → LoRa → bramka): ping, sync czasu, discovery, parametry/progi, clear anomalii, kalendarz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10881360" cy="21031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1042416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Ograniczenia kanału (definiują protokół): </a:t>
            </a:r>
            <a:r>
              <a:rPr sz="1400" b="0">
                <a:solidFill>
                  <a:srgbClr val="F2F5F8"/>
                </a:solidFill>
                <a:latin typeface="Segoe UI"/>
              </a:rPr>
              <a:t>LoRa ≤220 B/ramkę · cooldown 3 s · EU duty cycle 10%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Skala docelowa: </a:t>
            </a:r>
            <a:r>
              <a:rPr sz="1400" b="0">
                <a:solidFill>
                  <a:srgbClr val="F2F5F8"/>
                </a:solidFill>
                <a:latin typeface="Segoe UI"/>
              </a:rPr>
              <a:t>3 bramki × ~50 urządzeń Zigbee · supervisor agreguje · autonomia per-bramka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Batching pasma: </a:t>
            </a:r>
            <a:r>
              <a:rPr sz="1400" b="0">
                <a:solidFill>
                  <a:srgbClr val="F2F5F8"/>
                </a:solidFill>
                <a:latin typeface="Segoe UI"/>
              </a:rPr>
              <a:t>priorytet 10 s · monitoring 30 s · temp/hum 15 min · anomalie flush 30 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Krytyczność: </a:t>
            </a:r>
            <a:r>
              <a:rPr sz="1400" b="0">
                <a:solidFill>
                  <a:srgbClr val="F2F5F8"/>
                </a:solidFill>
                <a:latin typeface="Segoe UI"/>
              </a:rPr>
              <a:t>niska — monitoring/alarmy, nie sterowanie bezpieczeństwa (to upraszcza wymagania certyfikacyjne)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Środowisko testowe i dostęp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257800" cy="196596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19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7C9D8"/>
                </a:solidFill>
                <a:latin typeface="Segoe UI"/>
              </a:rPr>
              <a:t>Maszyny (Tailscale)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463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Consolas"/>
              </a:rPr>
              <a:t>•  Bramka  G1:  td@100.98.155.78  (Debian)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Consolas"/>
              </a:rPr>
              <a:t>•  Supervisor:  td@100.79.111.24  (Debian)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Consolas"/>
              </a:rPr>
              <a:t>•  Launcher UI:  http://localhost:8765  (lian-li)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5257800" cy="196596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19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7C9D8"/>
                </a:solidFill>
                <a:latin typeface="Segoe UI"/>
              </a:rPr>
              <a:t>Dashboardy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8463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Consolas"/>
              </a:rPr>
              <a:t>•  Bramka:  HA bramki → widok LoRa Gateway G1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Consolas"/>
              </a:rPr>
              <a:t>•  Supervisor:  HA supervisora → url_path 'lovelace'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Consolas"/>
              </a:rPr>
              <a:t>•  Login (oba):  td / (haslo poza repo)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5257800" cy="196596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7C9D8"/>
                </a:solidFill>
                <a:latin typeface="Segoe UI"/>
              </a:rPr>
              <a:t>Uruchamianie / 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24528"/>
            <a:ext cx="48463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Skrypty test_step5_anomaly.py w tmux (gw / sup)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Start/Stop z Launchera (async, /api/op)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NIGDY nie ruszamy v38 (legacy monolit)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657600"/>
            <a:ext cx="5257800" cy="196596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7C9D8"/>
                </a:solidFill>
                <a:latin typeface="Segoe UI"/>
              </a:rPr>
              <a:t>Stan urządzeń stanowiska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24528"/>
            <a:ext cx="48463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Temp 1 / Temp 2 (temp+hum+bateria)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Leak 1, Door 1 (czujniki)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Test 1 / Test 2 (przełączniki / offline)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LEGENDA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Jak czytać procedurę testową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743200" cy="64008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7C9D8"/>
                </a:solidFill>
                <a:latin typeface="Segoe UI"/>
              </a:rPr>
              <a:t>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7955279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5F8"/>
                </a:solidFill>
                <a:latin typeface="Segoe UI"/>
              </a:rPr>
              <a:t>co dany test udowadnia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2743200" cy="64008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5F8"/>
                </a:solidFill>
                <a:latin typeface="Segoe UI"/>
              </a:rPr>
              <a:t>Przygotowanie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04288"/>
            <a:ext cx="7955279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5F8"/>
                </a:solidFill>
                <a:latin typeface="Segoe UI"/>
              </a:rPr>
              <a:t>stan wejściowy / co wstrzyknąć (z2m, progi)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54096"/>
            <a:ext cx="2743200" cy="64008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5F8"/>
                </a:solidFill>
                <a:latin typeface="Segoe UI"/>
              </a:rPr>
              <a:t>Kroki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54096"/>
            <a:ext cx="7955279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5F8"/>
                </a:solidFill>
                <a:latin typeface="Segoe UI"/>
              </a:rPr>
              <a:t>konkretne kliknięcia: KLIKNIJ &lt;przycisk&gt; → OBSERWUJ &lt;encja&gt;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2743200" cy="64008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03904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AD68C"/>
                </a:solidFill>
                <a:latin typeface="Segoe UI"/>
              </a:rPr>
              <a:t>Oczekiwany wynik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03904"/>
            <a:ext cx="7955279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5F8"/>
                </a:solidFill>
                <a:latin typeface="Segoe UI"/>
              </a:rPr>
              <a:t>co musi się stać, by uznać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53712"/>
            <a:ext cx="2743200" cy="64008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53712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A33C"/>
                </a:solidFill>
                <a:latin typeface="Segoe UI"/>
              </a:rPr>
              <a:t>Wynik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553712"/>
            <a:ext cx="7955279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5F8"/>
                </a:solidFill>
                <a:latin typeface="Segoe UI"/>
              </a:rPr>
              <a:t>Twoje pole: ☐ PASS  ☐ FAIL  + notatka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solidFill>
            <a:srgbClr val="14243A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Wstrzykiwanie anomalii (gdy brak realnego zdarzenia): </a:t>
            </a:r>
            <a:r>
              <a:rPr sz="1300" b="0">
                <a:solidFill>
                  <a:srgbClr val="F2F5F8"/>
                </a:solidFill>
                <a:latin typeface="Segoe UI"/>
              </a:rPr>
              <a:t>publikacja na MQTT z2m bez retained — przeżyje do restartu bramki, potem wraca stan realny.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Gotcha: </a:t>
            </a:r>
            <a:r>
              <a:rPr sz="1300" b="0">
                <a:solidFill>
                  <a:srgbClr val="F2F5F8"/>
                </a:solidFill>
                <a:latin typeface="Segoe UI"/>
              </a:rPr>
              <a:t>HA tworzy entity_id z NAZWY gdy encja ma device → weryfikuj realne id przez /api/states, nie zgaduj.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TEST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Anomalie — detekcja, powiadomienie, clear per-wpis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P0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74920" cy="46177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663440" cy="4343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CEL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2F5F8"/>
                </a:solidFill>
                <a:latin typeface="Segoe UI"/>
              </a:rPr>
              <a:t>Każdy typ anomalii jest wykryty, pokazany z wartością na supervisorze i kasowalny pojedynczo.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Progi na dashboardzie: TH/TL/HH/HL/BL/BC ustawione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z2m injection lub realne zdarzenie dla każdego typu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Typy: offline · bateria niska/krytyczna · temp ↑/↓ · wilg ↑/↓ · stagnacja · wyciek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AD68C"/>
                </a:solidFill>
                <a:latin typeface="Segoe UI"/>
              </a:rPr>
              <a:t>OCZEKIWANY WYNIK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Wszystkie 6+ typów generują encję z wartością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Powiadomienie zawiera wartość i jednostkę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Clear pojedynczego wpisu zdejmuje go z listy i licznika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Dump re-czyta spójny stan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5623560" cy="3977639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38528"/>
            <a:ext cx="52120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1. </a:t>
            </a:r>
            <a:r>
              <a:rPr sz="1250" b="1">
                <a:solidFill>
                  <a:srgbClr val="F2F5F8"/>
                </a:solidFill>
                <a:latin typeface="Segoe UI"/>
              </a:rPr>
              <a:t>Wstrzyknij/wywołaj anomalię danego typu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encja sensor.lora_an_g1_&lt;dev&gt;_&lt;typ&gt; = 'active'/wartość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2. </a:t>
            </a:r>
            <a:r>
              <a:rPr sz="1250" b="1">
                <a:solidFill>
                  <a:srgbClr val="F2F5F8"/>
                </a:solidFill>
                <a:latin typeface="Segoe UI"/>
              </a:rPr>
              <a:t>Sprawdź powiadomienie HA (dzwonek)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persistent_notification: lista + wartości + jednostki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3. </a:t>
            </a:r>
            <a:r>
              <a:rPr sz="1250" b="1">
                <a:solidFill>
                  <a:srgbClr val="F2F5F8"/>
                </a:solidFill>
                <a:latin typeface="Segoe UI"/>
              </a:rPr>
              <a:t>Sprawdź licznik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sensor ...total / priority / offline rośnie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4.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button ...&lt;dev&gt;_&lt;typ&gt;_clear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encja anomalii znika REAKTYWNIE (bez reloadu)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5.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Dump Anomalies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stan odczytany ponownie zgadza się z licznikiem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5532120"/>
            <a:ext cx="5623560" cy="502920"/>
          </a:xfrm>
          <a:prstGeom prst="rect">
            <a:avLst/>
          </a:prstGeom>
          <a:solidFill>
            <a:srgbClr val="0E1A2B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5321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WYNIK:   ☐ PASS      ☐ FAIL      notatka: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TEST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Kalendarz produkcyjny — tryby, sync, ICS, edycja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P1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74920" cy="46177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663440" cy="4343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CEL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2F5F8"/>
                </a:solidFill>
                <a:latin typeface="Segoe UI"/>
              </a:rPr>
              <a:t>Bramka poprawnie wykrywa tryb pracy z kalendarza, sync jest spójny hashem, edycja działa 2-stronnie.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Eventy w calendar.lora_g1 dla 4 trybów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Tryby: PRODUKCJA / BRAK PRODUKCJI / SERWIS / PRZERWA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input_boolean.lora_override_g1 do testu per-bramka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AD68C"/>
                </a:solidFill>
                <a:latin typeface="Segoe UI"/>
              </a:rPr>
              <a:t>OCZEKIWANY WYNIK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Tryb i 'następna zmiana' zgodne z eventami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Sync potwierdzony ACK, hash spójny 2-stronnie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CRUD eventu propaguje bez restartu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Override per-bramka działa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5623560" cy="3977639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38528"/>
            <a:ext cx="52120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1. </a:t>
            </a:r>
            <a:r>
              <a:rPr sz="1250" b="1">
                <a:solidFill>
                  <a:srgbClr val="F2F5F8"/>
                </a:solidFill>
                <a:latin typeface="Segoe UI"/>
              </a:rPr>
              <a:t>Ustaw 4 eventy różne dni/godziny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calendar.lora_g1 pokazuje najbliższy event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2.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Sync Schedule (lub czekaj na auto-hash)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log: Begin cal → sync zakończony → ACK ok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3. </a:t>
            </a:r>
            <a:r>
              <a:rPr sz="1250" b="1">
                <a:solidFill>
                  <a:srgbClr val="F2F5F8"/>
                </a:solidFill>
                <a:latin typeface="Segoe UI"/>
              </a:rPr>
              <a:t>OBSERWUJ tryb na bramce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sensor ...gw_g1_tryb + tryb_nastepna_zmiana + hash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4. </a:t>
            </a:r>
            <a:r>
              <a:rPr sz="1250" b="1">
                <a:solidFill>
                  <a:srgbClr val="F2F5F8"/>
                </a:solidFill>
                <a:latin typeface="Segoe UI"/>
              </a:rPr>
              <a:t>Porównaj hash bramka vs supervisor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hash_kalendarza identyczny po obu stronach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5. </a:t>
            </a:r>
            <a:r>
              <a:rPr sz="1250" b="1">
                <a:solidFill>
                  <a:srgbClr val="F2F5F8"/>
                </a:solidFill>
                <a:latin typeface="Segoe UI"/>
              </a:rPr>
              <a:t>Dodaj / zmień / usuń event w HA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zmiana propaguje, hash się przelicza, drift auto-sync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6. </a:t>
            </a:r>
            <a:r>
              <a:rPr sz="1250" b="1">
                <a:solidFill>
                  <a:srgbClr val="F2F5F8"/>
                </a:solidFill>
                <a:latin typeface="Segoe UI"/>
              </a:rPr>
              <a:t>Włącz override per-bramka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bramka bierze własny kalendarz, nie globalny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5532120"/>
            <a:ext cx="5623560" cy="502920"/>
          </a:xfrm>
          <a:prstGeom prst="rect">
            <a:avLst/>
          </a:prstGeom>
          <a:solidFill>
            <a:srgbClr val="0E1A2B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5321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WYNIK:   ☐ PASS      ☐ FAIL      notatka: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TEST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Czas — sync, offset, jakość, pora dnia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P1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74920" cy="46177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663440" cy="4343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CEL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2F5F8"/>
                </a:solidFill>
                <a:latin typeface="Segoe UI"/>
              </a:rPr>
              <a:t>Zegar bramki jest świadomy skewu vs supervisor, jakość czasu i pora dnia liczone lokalnie.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Obie maszyny z NTP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lat/lon ustawione (równanie solarne świt/zmierzch)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Kafle czasu na obu dashboardach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AD68C"/>
                </a:solidFill>
                <a:latin typeface="Segoe UI"/>
              </a:rPr>
              <a:t>OCZEKIWANY WYNIK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Offset wyliczony i pokazany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Jakość czasu odzwierciedla stan NTP/LoRa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last_sync zapisany przy każdym sync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Pora dnia lokalna, świt/zmierzch == sun.sun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5623560" cy="3977639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38528"/>
            <a:ext cx="52120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1.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Sync All (czas) na supervisorze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log: TX sync → RX sync → offset=±Ns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2. </a:t>
            </a:r>
            <a:r>
              <a:rPr sz="1250" b="1">
                <a:solidFill>
                  <a:srgbClr val="F2F5F8"/>
                </a:solidFill>
                <a:latin typeface="Segoe UI"/>
              </a:rPr>
              <a:t>OBSERWUJ offset i jakość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sensor ...time_offset = ±Ns, jakość = 'Zsynchronizowany'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3. </a:t>
            </a:r>
            <a:r>
              <a:rPr sz="1250" b="1">
                <a:solidFill>
                  <a:srgbClr val="F2F5F8"/>
                </a:solidFill>
                <a:latin typeface="Segoe UI"/>
              </a:rPr>
              <a:t>OBSERWUJ last_sync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sensor ...last_sync = znacznik czasu (NIE '--')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4. </a:t>
            </a:r>
            <a:r>
              <a:rPr sz="1250" b="1">
                <a:solidFill>
                  <a:srgbClr val="F2F5F8"/>
                </a:solidFill>
                <a:latin typeface="Segoe UI"/>
              </a:rPr>
              <a:t>Sprawdź porę dnia na bramce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sensor ...pora_dnia = Dzień/Noc, świt/zmierzch poprawne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5. </a:t>
            </a:r>
            <a:r>
              <a:rPr sz="1250" b="1">
                <a:solidFill>
                  <a:srgbClr val="F2F5F8"/>
                </a:solidFill>
                <a:latin typeface="Segoe UI"/>
              </a:rPr>
              <a:t>Zrestartuj bramkę i sprawdź ponowny sync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po restarcie kafel sam się odświeża (okresowy sync)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5532120"/>
            <a:ext cx="5623560" cy="502920"/>
          </a:xfrm>
          <a:prstGeom prst="rect">
            <a:avLst/>
          </a:prstGeom>
          <a:solidFill>
            <a:srgbClr val="0E1A2B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5321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WYNIK:   ☐ PASS      ☐ FAIL      notatka: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TEST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Discovery &amp; parametry — anti-spam, progi 2-stronne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P0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74920" cy="46177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663440" cy="4343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CEL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2F5F8"/>
                </a:solidFill>
                <a:latin typeface="Segoe UI"/>
              </a:rPr>
              <a:t>Discovery nie zalewa pasma gdy stan znany; progi i czasy edytowalne z dashboardu, sync 2-stronny.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Bramka i supervisor zsynchronizowane (ten sam disc hash)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Encje number progów (TH/TL/HH/HL/BL/BC) i czasów (T1-3/P1-3)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AD68C"/>
                </a:solidFill>
                <a:latin typeface="Segoe UI"/>
              </a:rPr>
              <a:t>OCZEKIWANY WYNIK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Discovery przy zgodnym hashu = tylko meta (pasmo!)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Progi widoczne i edytowalne na OBU dashboardach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Edycja z każdej strony konwerguje (bramka master)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Silniki czytają progi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5623560" cy="3977639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38528"/>
            <a:ext cx="52120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1.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Discovery All gdy hash zgodny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log bramki: disc_meta (meta_only), BEZ pełnego db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2.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Discovery gdy hash różny/nowe urz.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log: pełne db: N devices sent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3. </a:t>
            </a:r>
            <a:r>
              <a:rPr sz="1250" b="1">
                <a:solidFill>
                  <a:srgbClr val="F2F5F8"/>
                </a:solidFill>
                <a:latin typeface="Segoe UI"/>
              </a:rPr>
              <a:t>Zmień próg na dashboardzie + KLIKNIJ Wyślij Progi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supervisor RX param_upd → mirror TH/TL/... + encje number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4. </a:t>
            </a:r>
            <a:r>
              <a:rPr sz="1250" b="1">
                <a:solidFill>
                  <a:srgbClr val="F2F5F8"/>
                </a:solidFill>
                <a:latin typeface="Segoe UI"/>
              </a:rPr>
              <a:t>Zmień próg z dashboardu supervisora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proposal → bramka master → broadcast z powrotem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5. </a:t>
            </a:r>
            <a:r>
              <a:rPr sz="1250" b="1">
                <a:solidFill>
                  <a:srgbClr val="F2F5F8"/>
                </a:solidFill>
                <a:latin typeface="Segoe UI"/>
              </a:rPr>
              <a:t>Zmień czas raportu / offline i obserwuj silnik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silniki pollują live, bez restartu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5532120"/>
            <a:ext cx="5623560" cy="502920"/>
          </a:xfrm>
          <a:prstGeom prst="rect">
            <a:avLst/>
          </a:prstGeom>
          <a:solidFill>
            <a:srgbClr val="0E1A2B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5321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WYNIK:   ☐ PASS      ☐ FAIL      notatka: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TEST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Łączność i odporność — watchdog, recovery, antena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P1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74920" cy="46177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663440" cy="4343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CEL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2F5F8"/>
                </a:solidFill>
                <a:latin typeface="Segoe UI"/>
              </a:rPr>
              <a:t>System sam wykrywa utratę urządzeń/anteny i wraca do zdrowia bez interwencji.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Bramka online, supervisor link 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Antena CP2102/Heltec podłączona (USB lub tcp://)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AD68C"/>
                </a:solidFill>
                <a:latin typeface="Segoe UI"/>
              </a:rPr>
              <a:t>OCZEKIWANY WYNIK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Ping/pong i supervisor_link wiarygodne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Offline→online wykryte i odzwierciedlone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Antena USB sama się leczy; tcp:// jako trwały fallback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Brak ręcznej interwencji w typowym glitchu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5623560" cy="3977639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38528"/>
            <a:ext cx="52120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1. </a:t>
            </a:r>
            <a:r>
              <a:rPr sz="1250" b="1">
                <a:solidFill>
                  <a:srgbClr val="F2F5F8"/>
                </a:solidFill>
                <a:latin typeface="Segoe UI"/>
              </a:rPr>
              <a:t>KLIKNIJ Ping All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pong z bramki, binary_sensor supervisor_link = 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2. </a:t>
            </a:r>
            <a:r>
              <a:rPr sz="1250" b="1">
                <a:solidFill>
                  <a:srgbClr val="F2F5F8"/>
                </a:solidFill>
                <a:latin typeface="Segoe UI"/>
              </a:rPr>
              <a:t>Odłącz urządzenie Zigbee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po progu offline → anomalia device_offline + kaskada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3. </a:t>
            </a:r>
            <a:r>
              <a:rPr sz="1250" b="1">
                <a:solidFill>
                  <a:srgbClr val="F2F5F8"/>
                </a:solidFill>
                <a:latin typeface="Segoe UI"/>
              </a:rPr>
              <a:t>Podłącz urządzenie z powrotem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available → on, anomalia auto-clear / online recovery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4. </a:t>
            </a:r>
            <a:r>
              <a:rPr sz="1250" b="1">
                <a:solidFill>
                  <a:srgbClr val="F2F5F8"/>
                </a:solidFill>
                <a:latin typeface="Segoe UI"/>
              </a:rPr>
              <a:t>Wymuś reset USB anteny (lub czekaj na glitch)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auto-recovery USBDEVFS_RESET ~21 s, RX wraca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5. </a:t>
            </a:r>
            <a:r>
              <a:rPr sz="1250" b="1">
                <a:solidFill>
                  <a:srgbClr val="F2F5F8"/>
                </a:solidFill>
                <a:latin typeface="Segoe UI"/>
              </a:rPr>
              <a:t>Przełącz antenę na serial-over-IP (tcp://)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mesh działa po WiFi, eliminacja flaky USB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5532120"/>
            <a:ext cx="5623560" cy="502920"/>
          </a:xfrm>
          <a:prstGeom prst="rect">
            <a:avLst/>
          </a:prstGeom>
          <a:solidFill>
            <a:srgbClr val="0E1A2B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5321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WYNIK:   ☐ PASS      ☐ FAIL      notatka: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TEST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Redundancja i reconcile — dryf stanu, restart-safety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822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P0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74920" cy="461772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663440" cy="4343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CEL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2F5F8"/>
                </a:solidFill>
                <a:latin typeface="Segoe UI"/>
              </a:rPr>
              <a:t>Po utracie pakietów LoRa stan bramki i supervisora zbiega się; restart nie gubi danych.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PRZYGOTOWANIE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Bramka + supervisor z aktywnym mirrorem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Możliwość symulacji utraty LoRa (odłączenie anteny na chwilę)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AD68C"/>
                </a:solidFill>
                <a:latin typeface="Segoe UI"/>
              </a:rPr>
              <a:t>OCZEKIWANY WYNIK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Stan zbiega się po przywróceniu LoRa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JEDNO spójne źródło liczby offline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Restart bezpieczny dla stanu krytycznego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✓  Pasmo wystarcza przy docelowej skali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17320"/>
            <a:ext cx="5623560" cy="3977639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KROKI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38528"/>
            <a:ext cx="52120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1. </a:t>
            </a:r>
            <a:r>
              <a:rPr sz="1250" b="1">
                <a:solidFill>
                  <a:srgbClr val="F2F5F8"/>
                </a:solidFill>
                <a:latin typeface="Segoe UI"/>
              </a:rPr>
              <a:t>Wprowadź dryf: zmień stan podczas 'ciszy' LoRa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supervisor i bramka chwilowo rozjechane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2. </a:t>
            </a:r>
            <a:r>
              <a:rPr sz="1250" b="1">
                <a:solidFill>
                  <a:srgbClr val="F2F5F8"/>
                </a:solidFill>
                <a:latin typeface="Segoe UI"/>
              </a:rPr>
              <a:t>Przywróć łączność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hash-reconcile STANU wyrównuje obie strony (event-driven)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3. </a:t>
            </a:r>
            <a:r>
              <a:rPr sz="1250" b="1">
                <a:solidFill>
                  <a:srgbClr val="F2F5F8"/>
                </a:solidFill>
                <a:latin typeface="Segoe UI"/>
              </a:rPr>
              <a:t>Porównaj liczniki offline 3 źródła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bramka HA == supervisor HA == liczba encji anomalii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4. </a:t>
            </a:r>
            <a:r>
              <a:rPr sz="1250" b="1">
                <a:solidFill>
                  <a:srgbClr val="F2F5F8"/>
                </a:solidFill>
                <a:latin typeface="Segoe UI"/>
              </a:rPr>
              <a:t>Zrestartuj proces bramki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stan krytyczny odtworzony (retained / dump), brak utraty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C9D8"/>
                </a:solidFill>
                <a:latin typeface="Segoe UI"/>
              </a:rPr>
              <a:t>5. </a:t>
            </a:r>
            <a:r>
              <a:rPr sz="1250" b="1">
                <a:solidFill>
                  <a:srgbClr val="F2F5F8"/>
                </a:solidFill>
                <a:latin typeface="Segoe UI"/>
              </a:rPr>
              <a:t>Sprawdź budżet pasma przy N urządzeń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A33C"/>
                </a:solidFill>
                <a:latin typeface="Segoe UI"/>
              </a:rPr>
              <a:t>    → </a:t>
            </a:r>
            <a:r>
              <a:rPr sz="1200" b="0">
                <a:solidFill>
                  <a:srgbClr val="9AAABC"/>
                </a:solidFill>
                <a:latin typeface="Segoe UI"/>
              </a:rPr>
              <a:t>batching mieści się w EU duty 10% dla 50+ urz.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5532120"/>
            <a:ext cx="5623560" cy="502920"/>
          </a:xfrm>
          <a:prstGeom prst="rect">
            <a:avLst/>
          </a:prstGeom>
          <a:solidFill>
            <a:srgbClr val="0E1A2B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5321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A33C"/>
                </a:solidFill>
                <a:latin typeface="Segoe UI"/>
              </a:rPr>
              <a:t>WYNIK:   ☐ PASS      ☐ FAIL      notatka: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DO WYDRUKU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Zbiorcza checklista PASS /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583680"/>
                <a:gridCol w="914400"/>
                <a:gridCol w="1280160"/>
                <a:gridCol w="128016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1A2B"/>
                          </a:solidFill>
                        </a:rPr>
                        <a:t>Blok</a:t>
                      </a:r>
                    </a:p>
                  </a:txBody>
                  <a:tcPr anchor="ctr">
                    <a:solidFill>
                      <a:srgbClr val="27C9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1A2B"/>
                          </a:solidFill>
                        </a:rPr>
                        <a:t>Kryterium</a:t>
                      </a:r>
                    </a:p>
                  </a:txBody>
                  <a:tcPr anchor="ctr">
                    <a:solidFill>
                      <a:srgbClr val="27C9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1A2B"/>
                          </a:solidFill>
                        </a:rPr>
                        <a:t>Prio</a:t>
                      </a:r>
                    </a:p>
                  </a:txBody>
                  <a:tcPr anchor="ctr">
                    <a:solidFill>
                      <a:srgbClr val="27C9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1A2B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27C9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1A2B"/>
                          </a:solidFill>
                        </a:rPr>
                        <a:t>FAIL</a:t>
                      </a:r>
                    </a:p>
                  </a:txBody>
                  <a:tcPr anchor="ctr">
                    <a:solidFill>
                      <a:srgbClr val="27C9D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A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Anomalie — 6+ typów, wartości, clear per-wpis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P0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A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Powiadomienie HA z wartością i jednostką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P0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B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Kalendarz — 4 tryby, wykrycie tryb + next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P1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B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Sync hash spójny 2-stronnie + CRUD eventu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P1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C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Czas — offset, jakość, last_sync, pora dnia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P1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D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Discovery anti-spam (meta_only przy zgodnym hashu)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P0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D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Progi edytowalne 2-stronnie, silniki live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P0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E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Watchdog + offline/online recovery + antena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P1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F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Reconcile dryfu + jedno źródło offline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P0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14243A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F5F8"/>
                          </a:solidFill>
                        </a:rPr>
                        <a:t>F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2F5F8"/>
                          </a:solidFill>
                        </a:rPr>
                        <a:t>Restart-safety + budżet pasma @ skala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2A33C"/>
                          </a:solidFill>
                        </a:rPr>
                        <a:t>P0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2F5F8"/>
                          </a:solidFill>
                        </a:rPr>
                        <a:t>☐</a:t>
                      </a:r>
                    </a:p>
                  </a:txBody>
                  <a:tcPr anchor="ctr" marT="18288" marB="18288">
                    <a:solidFill>
                      <a:srgbClr val="0E1A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STAN FAKTYCZNY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Wyniki pre-testu live — 2026-06-27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05840" cy="841248"/>
          </a:xfrm>
          <a:prstGeom prst="rect">
            <a:avLst/>
          </a:prstGeom>
          <a:solidFill>
            <a:srgbClr val="3A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058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1A2B"/>
                </a:solidFill>
                <a:latin typeface="Segoe UI"/>
              </a:rPr>
              <a:t>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481328"/>
            <a:ext cx="9738360" cy="841248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572768"/>
            <a:ext cx="93268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A · Clear per-wpis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Skasowano 2 stale offline (Test 2, Leak 1) → encje znikły reaktywnie; log 'clear ręczny'.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14016"/>
            <a:ext cx="1005840" cy="841248"/>
          </a:xfrm>
          <a:prstGeom prst="rect">
            <a:avLst/>
          </a:prstGeom>
          <a:solidFill>
            <a:srgbClr val="3A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10058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1A2B"/>
                </a:solidFill>
                <a:latin typeface="Segoe UI"/>
              </a:rPr>
              <a:t>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2414016"/>
            <a:ext cx="9738360" cy="841248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505456"/>
            <a:ext cx="93268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C · Sync czasu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Sync All → offset=+63 s, time_quality→synced; pełny round-trip TX→RX w logach.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46704"/>
            <a:ext cx="1005840" cy="841248"/>
          </a:xfrm>
          <a:prstGeom prst="rect">
            <a:avLst/>
          </a:prstGeom>
          <a:solidFill>
            <a:srgbClr val="3A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46704"/>
            <a:ext cx="10058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1A2B"/>
                </a:solidFill>
                <a:latin typeface="Segoe UI"/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3346704"/>
            <a:ext cx="9738360" cy="841248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438144"/>
            <a:ext cx="93268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B · Kalendarz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Begin cal → sync zakończony → ACK ok; tryb BRAK PRODUKCJI, next 08:00, 32 sloty, hash 62bc44a34acc.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79392"/>
            <a:ext cx="1005840" cy="841248"/>
          </a:xfrm>
          <a:prstGeom prst="rect">
            <a:avLst/>
          </a:prstGeom>
          <a:solidFill>
            <a:srgbClr val="3A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79392"/>
            <a:ext cx="10058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1A2B"/>
                </a:solidFill>
                <a:latin typeface="Segoe U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4279392"/>
            <a:ext cx="9738360" cy="841248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370831"/>
            <a:ext cx="93268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D · Progi 2-stronne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Wyślij Progi → supervisor RX param_upd, mirror TH/TL/HH/HL/BL/BC + encje number na obu HA.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12079"/>
            <a:ext cx="1005840" cy="841248"/>
          </a:xfrm>
          <a:prstGeom prst="rect">
            <a:avLst/>
          </a:prstGeom>
          <a:solidFill>
            <a:srgbClr val="F2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79"/>
            <a:ext cx="10058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1A2B"/>
                </a:solidFill>
                <a:latin typeface="Segoe UI"/>
              </a:rPr>
              <a:t>FAIL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5212079"/>
            <a:ext cx="9738360" cy="841248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303519"/>
            <a:ext cx="93268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D · Discovery anti-spam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Supervisor wysłał goły {t:disc} (stary kod) → bramka pełne db: 7 urz. Wymaga RESTARTU supervisora.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DŁUG TECHNICZNY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Znalezione luki — do domknięcia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1148"/>
          </a:xfrm>
          <a:prstGeom prst="rect">
            <a:avLst/>
          </a:prstGeom>
          <a:solidFill>
            <a:srgbClr val="F2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25C5C"/>
                </a:solidFill>
                <a:latin typeface="Segoe UI"/>
              </a:rPr>
              <a:t>🔴 Błędy / poprawność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Rozjazd liczby offline: bramka=4, supervisor=1, encje=3 — brak JEDNEGO źródła prawdy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last_sync zostaje '--' mimo policzonego offsetu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script.lora_calendar_to_supervisor_g1 = unavailable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Mirror loguje progi z błędną etykietą '(offline T1/T2/T3)'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63824"/>
            <a:ext cx="10881360" cy="41148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36976"/>
            <a:ext cx="1088136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2A33C"/>
                </a:solidFill>
                <a:latin typeface="Segoe UI"/>
              </a:rPr>
              <a:t>🟡 Wdrożone, nieaktywne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21024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Anti-spam discovery — czeka na restart supervisora (kluczowe dla pasma @ skala)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Kod step5 NIEZACOMMITOWANY w git na obu maszynach (ryzyko utraty całej pracy)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52544"/>
            <a:ext cx="10881360" cy="41148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25696"/>
            <a:ext cx="1088136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7C9D8"/>
                </a:solidFill>
                <a:latin typeface="Segoe UI"/>
              </a:rPr>
              <a:t>🟠 Brakujące funkcje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09744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Okresowy sync czasu (dziś tylko ręczny) + skew +63 s mimo NTP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Kafel pora-dnia / czas po stronie supervisora (własny GatewayMode)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Kalendarz 2-stronny CRUD + UI global-vs-per-bramka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2F5F8"/>
                </a:solidFill>
                <a:latin typeface="Segoe UI"/>
              </a:rPr>
              <a:t>•  Multi-bramka: panele per-bramka (dziś tylko G1)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WERDYKT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Czy jesteśmy gotowi na warunki przemysłowe?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solidFill>
            <a:srgbClr val="14243A"/>
          </a:solidFill>
          <a:ln w="190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1042416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2A33C"/>
                </a:solidFill>
                <a:latin typeface="Segoe UI"/>
              </a:rPr>
              <a:t>NIE jeszcze do produkcji u klienta — TAK jako działające PoC/pilotaż na stanowisku.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2F5F8"/>
                </a:solidFill>
                <a:latin typeface="Segoe UI"/>
              </a:rPr>
              <a:t>Tor danych i sterowania jest funkcjonalnie kompletny (4/5 PASS). Brakuje hardeningu skali, bezpieczeństwa i procedur odbiorowych.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5257800" cy="3383280"/>
          </a:xfrm>
          <a:prstGeom prst="rect">
            <a:avLst/>
          </a:prstGeom>
          <a:solidFill>
            <a:srgbClr val="14243A"/>
          </a:solidFill>
          <a:ln w="15240">
            <a:solidFill>
              <a:srgbClr val="3AD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AD68C"/>
                </a:solidFill>
                <a:latin typeface="Segoe UI"/>
              </a:rPr>
              <a:t>Gotowe (zielone światło)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84632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Pełny tor sense→LoRa→supervisor→HA + sterowanie zwrotne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Anomalie z wartościami + clear per-wpis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Kalendarz produkcyjny ze slotowaniem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Parametry/progi strojone z dashboardu na żywo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Auto-recovery anteny, watchdog, ping/pong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606040"/>
            <a:ext cx="5257800" cy="3383280"/>
          </a:xfrm>
          <a:prstGeom prst="rect">
            <a:avLst/>
          </a:prstGeom>
          <a:solidFill>
            <a:srgbClr val="14243A"/>
          </a:solidFill>
          <a:ln w="15240">
            <a:solidFill>
              <a:srgbClr val="F2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5C5C"/>
                </a:solidFill>
                <a:latin typeface="Segoe UI"/>
              </a:rPr>
              <a:t>Bramkujące do wdrożenia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484632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Jedno źródło prawdy stanu + reconcile @ 50+ urz.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Restart-safety / brak utraty stanu krytycznego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Walidacja budżetu pasma EU duty 10% @ skala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Multi-bramka (3×) + agregacja supervisora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Bezpieczeństwo (MQTT auth, tokeny, sieć) + git/CI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5F8"/>
                </a:solidFill>
                <a:latin typeface="Segoe UI"/>
              </a:rPr>
              <a:t>•  Procedura komisjonowania i test odbiorowy klienta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STEP 6 — Hardening przemysłowy i skala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35608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Single source of truth + reconcile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Jeden licznik/stan offline; event-driven hash-reconcile STANU po utracie LoRa (krytyczne dla 100+ urz.).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39696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9696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57984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Restart-safety &amp; persistence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Retained / snapshot stanu krytycznego; restart bez utraty anomalii i kalendarza; idempotentny boot.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62072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Budżet pasma @ skala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Pomiar i walidacja EU duty 10% przy 50 urz./bramkę; tuning batchingu; backpressure gdy duty blisko limitu.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84448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02736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Multi-bramka (3×)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Panele params/kalendarz per-bramka; agregacja supervisora; routing/adresacja; per-bramka override UI.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06824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06824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25112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Bezpieczeństwo &amp; DevOps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MQTT auth/TLS, rotacja tokenów HA, segmentacja sieci; git + wersjonowanie + CI smoke; backupy.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29200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47488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Observability &amp; alerting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Alarm gdy bramka/antena padnie; metryki pasma/RSSI/SNR; zdrowie supervisora; zdalna diagnostyka.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751576"/>
            <a:ext cx="640080" cy="658368"/>
          </a:xfrm>
          <a:prstGeom prst="rect">
            <a:avLst/>
          </a:prstGeom>
          <a:solidFill>
            <a:srgbClr val="14243A"/>
          </a:solidFill>
          <a:ln w="12700">
            <a:solidFill>
              <a:srgbClr val="27C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51576"/>
            <a:ext cx="64008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7C9D8"/>
                </a:solidFill>
                <a:latin typeface="Segoe UI"/>
              </a:rPr>
              <a:t>6.7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69864"/>
            <a:ext cx="100584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2F5F8"/>
                </a:solidFill>
                <a:latin typeface="Segoe UI"/>
              </a:rPr>
              <a:t>Komisjonowanie &amp; odbiór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9AAABC"/>
                </a:solidFill>
                <a:latin typeface="Segoe UI"/>
              </a:rPr>
              <a:t>Procedura onboardingu 50 urz./bramkę; test odbiorowy (acceptance) + runbook + dokumentacja dla klienta.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7C9D8"/>
                </a:solidFill>
                <a:latin typeface="Segoe UI"/>
              </a:rPr>
              <a:t>DECYZJE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Segoe UI"/>
              </a:rPr>
              <a:t>Najbliższe kroki (kolejność)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828800" cy="54864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640080" cy="777240"/>
          </a:xfrm>
          <a:prstGeom prst="rect">
            <a:avLst/>
          </a:prstGeom>
          <a:solidFill>
            <a:srgbClr val="F2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1A2B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481328"/>
            <a:ext cx="10058400" cy="77724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572768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2F5F8"/>
                </a:solidFill>
                <a:latin typeface="Segoe UI"/>
              </a:rPr>
              <a:t>Commit step5 do git na obu maszynach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Zabezpieczyć całą pracę PRZED jakimkolwiek restartem (największe ryzyko teraz).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68296"/>
            <a:ext cx="640080" cy="7772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68296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1A2B"/>
                </a:solidFill>
                <a:latin typeface="Segoe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368296"/>
            <a:ext cx="10058400" cy="77724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459736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2F5F8"/>
                </a:solidFill>
                <a:latin typeface="Segoe UI"/>
              </a:rPr>
              <a:t>Restart supervisora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Aktywuje anti-spam discovery; re-test D → potwierdź disc_meta-only.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3"/>
            <a:ext cx="640080" cy="7772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3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1A2B"/>
                </a:solidFill>
                <a:latin typeface="Segoe U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255263"/>
            <a:ext cx="10058400" cy="77724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346703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2F5F8"/>
                </a:solidFill>
                <a:latin typeface="Segoe UI"/>
              </a:rPr>
              <a:t>Fix reconcile liczby offline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Jedno źródło prawdy — jedyny błąd poprawności blokujący skalę.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42231"/>
            <a:ext cx="640080" cy="777240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42231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1A2B"/>
                </a:solidFill>
                <a:latin typeface="Segoe U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142231"/>
            <a:ext cx="10058400" cy="77724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233671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2F5F8"/>
                </a:solidFill>
                <a:latin typeface="Segoe UI"/>
              </a:rPr>
              <a:t>Przejść tę procedurę A–F ręcznie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Wydruk checklisty s.12; zaznaczyć PASS/FAIL empirycznie.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199"/>
            <a:ext cx="640080" cy="777240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199"/>
            <a:ext cx="6400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E1A2B"/>
                </a:solidFill>
                <a:latin typeface="Segoe U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029199"/>
            <a:ext cx="10058400" cy="777240"/>
          </a:xfrm>
          <a:prstGeom prst="rect">
            <a:avLst/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5120639"/>
            <a:ext cx="9692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2F5F8"/>
                </a:solidFill>
                <a:latin typeface="Segoe UI"/>
              </a:rPr>
              <a:t>Otworzyć STEP 6 jako backlog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ABC"/>
                </a:solidFill>
                <a:latin typeface="Segoe UI"/>
              </a:rPr>
              <a:t>6.1–6.7 jako zadania w POS Mission Control; estymacja + priorytety.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Meshtastic Gateway · step5 · Procedura testowa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5566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ABC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270955200000"/>
          </a:xfrm>
          <a:prstGeom prst="rect">
            <a:avLst/>
          </a:prstGeom>
          <a:solidFill>
            <a:srgbClr val="27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2F5F8"/>
                </a:solidFill>
                <a:latin typeface="Segoe UI"/>
              </a:rPr>
              <a:t>Tor danych działa. Teraz hardening.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7C9D8"/>
                </a:solidFill>
                <a:latin typeface="Segoe UI"/>
              </a:rPr>
              <a:t>STEP 5 = funkcjonalny PoC  →  STEP 6 = gotowość przemysłowa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840480"/>
            <a:ext cx="4572000" cy="41148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AABC"/>
                </a:solidFill>
                <a:latin typeface="Segoe UI"/>
              </a:rPr>
              <a:t>Pre-test 2026-06-27: 4/5 PASS · anti-spam discovery czeka na restart supervisora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AABC"/>
                </a:solidFill>
                <a:latin typeface="Segoe UI"/>
              </a:rPr>
              <a:t>Procedura A–F gotowa do ręcznego przejścia (checklista s.12)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