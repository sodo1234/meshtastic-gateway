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1148085908000" cy="6270955200000"/>
          </a:xfrm>
          <a:prstGeom prst="round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2286000"/>
            <a:ext cx="146304" cy="1828800"/>
          </a:xfrm>
          <a:prstGeom prst="round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19456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>
                <a:solidFill>
                  <a:srgbClr val="22D3EE"/>
                </a:solidFill>
                <a:latin typeface="Consolas"/>
              </a:rPr>
              <a:t>LoRa ZIGBEE SCADA — v38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" y="2697480"/>
            <a:ext cx="10515600" cy="12801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4600" b="1">
                <a:solidFill>
                  <a:srgbClr val="E5E5E5"/>
                </a:solidFill>
                <a:latin typeface="Consolas"/>
              </a:rPr>
              <a:t>Rozproszony BMS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000" b="0">
                <a:solidFill>
                  <a:srgbClr val="737373"/>
                </a:solidFill>
                <a:latin typeface="Consolas"/>
              </a:rPr>
              <a:t>Zigbee → LoRa → Supervisor → Home Assistant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4572000"/>
            <a:ext cx="1005840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0">
                <a:solidFill>
                  <a:srgbClr val="E5E5E5"/>
                </a:solidFill>
                <a:latin typeface="Consolas"/>
              </a:rPr>
              <a:t>Status systemu i procedury testowe wszystkich funkcjonalności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0">
                <a:solidFill>
                  <a:srgbClr val="525252"/>
                </a:solidFill>
                <a:latin typeface="Consolas"/>
              </a:rPr>
              <a:t>3 bramki × ~100 urządzeń · 868 MHz · EU duty 10%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603504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525252"/>
                </a:solidFill>
                <a:latin typeface="Consolas"/>
              </a:rPr>
              <a:t>2026-06-21  ·  Step 1–5 zaimplementowane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411480"/>
            <a:ext cx="109728" cy="502920"/>
          </a:xfrm>
          <a:prstGeom prst="round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525252"/>
                </a:solidFill>
                <a:latin typeface="Consolas"/>
              </a:rPr>
              <a:t>PRZEGLĄD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603504"/>
            <a:ext cx="1115568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600" b="1">
                <a:solidFill>
                  <a:srgbClr val="E5E5E5"/>
                </a:solidFill>
                <a:latin typeface="Consolas"/>
              </a:rPr>
              <a:t>Architektura systemu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554480"/>
            <a:ext cx="3566160" cy="114300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0" y="1691639"/>
            <a:ext cx="35661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500" b="1">
                <a:solidFill>
                  <a:srgbClr val="22D3EE"/>
                </a:solidFill>
                <a:latin typeface="Consolas"/>
              </a:rPr>
              <a:t>SUPERVISOR (G0)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2121408"/>
            <a:ext cx="3566160" cy="5943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E5E5E5"/>
                </a:solidFill>
                <a:latin typeface="Consolas"/>
              </a:rPr>
              <a:t>Xeon · HA Supervised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E5E5E5"/>
                </a:solidFill>
                <a:latin typeface="Consolas"/>
              </a:rPr>
              <a:t>3 anteny LoRa · agregacja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E5E5E5"/>
                </a:solidFill>
                <a:latin typeface="Consolas"/>
              </a:rPr>
              <a:t>calendar.lora_global (master)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2788920"/>
            <a:ext cx="35661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FBBF24"/>
                </a:solidFill>
                <a:latin typeface="Consolas"/>
              </a:rPr>
              <a:t>▲  LoRa 868 MHz · 220B · 3s cooldown  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3291840"/>
            <a:ext cx="3200400" cy="137160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429000"/>
            <a:ext cx="32004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500" b="1">
                <a:solidFill>
                  <a:srgbClr val="4ADE80"/>
                </a:solidFill>
                <a:latin typeface="Consolas"/>
              </a:rPr>
              <a:t>BRAMKA G1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58768"/>
            <a:ext cx="320040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E5E5E5"/>
                </a:solidFill>
                <a:latin typeface="Consolas"/>
              </a:rPr>
              <a:t>Z2M + ConBee/SONOFF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E5E5E5"/>
                </a:solidFill>
                <a:latin typeface="Consolas"/>
              </a:rPr>
              <a:t>HA lokalne · ~100 dev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E5E5E5"/>
                </a:solidFill>
                <a:latin typeface="Consolas"/>
              </a:rPr>
              <a:t>Heltec V3 (SX1262)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60" y="3291840"/>
            <a:ext cx="3200400" cy="137160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5252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3429000"/>
            <a:ext cx="32004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500" b="1">
                <a:solidFill>
                  <a:srgbClr val="525252"/>
                </a:solidFill>
                <a:latin typeface="Consolas"/>
              </a:rPr>
              <a:t>BRAMKA G2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3858768"/>
            <a:ext cx="320040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E5E5E5"/>
                </a:solidFill>
                <a:latin typeface="Consolas"/>
              </a:rPr>
              <a:t>Z2M + ConBee/SONOFF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E5E5E5"/>
                </a:solidFill>
                <a:latin typeface="Consolas"/>
              </a:rPr>
              <a:t>HA lokalne · ~100 dev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E5E5E5"/>
                </a:solidFill>
                <a:latin typeface="Consolas"/>
              </a:rPr>
              <a:t>Heltec V3 (SX1262)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3291840"/>
            <a:ext cx="3200400" cy="137160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5252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92440" y="3429000"/>
            <a:ext cx="32004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500" b="1">
                <a:solidFill>
                  <a:srgbClr val="525252"/>
                </a:solidFill>
                <a:latin typeface="Consolas"/>
              </a:rPr>
              <a:t>BRAMKA G3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3858768"/>
            <a:ext cx="320040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E5E5E5"/>
                </a:solidFill>
                <a:latin typeface="Consolas"/>
              </a:rPr>
              <a:t>Z2M + ConBee/SONOFF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E5E5E5"/>
                </a:solidFill>
                <a:latin typeface="Consolas"/>
              </a:rPr>
              <a:t>HA lokalne · ~100 dev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00" b="0">
                <a:solidFill>
                  <a:srgbClr val="E5E5E5"/>
                </a:solidFill>
                <a:latin typeface="Consolas"/>
              </a:rPr>
              <a:t>Heltec V3 (SX1262)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846320"/>
            <a:ext cx="10515600" cy="12801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1">
                <a:solidFill>
                  <a:srgbClr val="4ADE80"/>
                </a:solidFill>
                <a:latin typeface="Consolas"/>
              </a:rPr>
              <a:t>G1 = AKTYWNA (live test bed: 100.98.155.78)   ·   G0 = 100.79.111.24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0">
                <a:solidFill>
                  <a:srgbClr val="E5E5E5"/>
                </a:solidFill>
                <a:latin typeface="Consolas"/>
              </a:rPr>
              <a:t>Filozofia: każda bramka autonomiczna (lokalne Z2M+HA), supervisor agreguje, minimalizacja ruchu LoRa.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0">
                <a:solidFill>
                  <a:srgbClr val="737373"/>
                </a:solidFill>
                <a:latin typeface="Consolas"/>
              </a:rPr>
              <a:t>Constraint: 220B max payload, 3.0s+jitter cooldown, half-duplex, EU duty cycle 10%.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640080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525252"/>
                </a:solidFill>
                <a:latin typeface="Consolas"/>
              </a:rPr>
              <a:t>LoRa Zigbee SCADA v38 — BMS rozproszony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525252"/>
                </a:solidFill>
                <a:latin typeface="Consola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411480"/>
            <a:ext cx="109728" cy="502920"/>
          </a:xfrm>
          <a:prstGeom prst="round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525252"/>
                </a:solidFill>
                <a:latin typeface="Consolas"/>
              </a:rPr>
              <a:t>PODSUMOWANIE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603504"/>
            <a:ext cx="1115568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600" b="1">
                <a:solidFill>
                  <a:srgbClr val="E5E5E5"/>
                </a:solidFill>
                <a:latin typeface="Consolas"/>
              </a:rPr>
              <a:t>Status gotowości do wdrożenia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5486400" cy="466344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1F3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50292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4ADE80"/>
                </a:solidFill>
                <a:latin typeface="Consolas"/>
              </a:rPr>
              <a:t>DZIAŁA (zweryfikowane live)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5029200" cy="40233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100" b="1">
                <a:solidFill>
                  <a:srgbClr val="4ADE80"/>
                </a:solidFill>
                <a:latin typeface="Consolas"/>
              </a:rPr>
              <a:t>✓ </a:t>
            </a:r>
            <a:r>
              <a:rPr sz="1100" b="0">
                <a:solidFill>
                  <a:srgbClr val="E5E5E5"/>
                </a:solidFill>
                <a:latin typeface="Consolas"/>
              </a:rPr>
              <a:t>Detekcja offline/online (z2m → bramka)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100" b="1">
                <a:solidFill>
                  <a:srgbClr val="4ADE80"/>
                </a:solidFill>
                <a:latin typeface="Consolas"/>
              </a:rPr>
              <a:t>✓ </a:t>
            </a:r>
            <a:r>
              <a:rPr sz="1100" b="0">
                <a:solidFill>
                  <a:srgbClr val="E5E5E5"/>
                </a:solidFill>
                <a:latin typeface="Consolas"/>
              </a:rPr>
              <a:t>Sync availability bramka → supervisor (spójny)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100" b="1">
                <a:solidFill>
                  <a:srgbClr val="4ADE80"/>
                </a:solidFill>
                <a:latin typeface="Consolas"/>
              </a:rPr>
              <a:t>✓ </a:t>
            </a:r>
            <a:r>
              <a:rPr sz="1100" b="0">
                <a:solidFill>
                  <a:srgbClr val="E5E5E5"/>
                </a:solidFill>
                <a:latin typeface="Consolas"/>
              </a:rPr>
              <a:t>Anomalie: offline / bateria / stagnacja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100" b="1">
                <a:solidFill>
                  <a:srgbClr val="4ADE80"/>
                </a:solidFill>
                <a:latin typeface="Consolas"/>
              </a:rPr>
              <a:t>✓ </a:t>
            </a:r>
            <a:r>
              <a:rPr sz="1100" b="0">
                <a:solidFill>
                  <a:srgbClr val="E5E5E5"/>
                </a:solidFill>
                <a:latin typeface="Consolas"/>
              </a:rPr>
              <a:t>Popup z listą + clear per-urządzenie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100" b="1">
                <a:solidFill>
                  <a:srgbClr val="4ADE80"/>
                </a:solidFill>
                <a:latin typeface="Consolas"/>
              </a:rPr>
              <a:t>✓ </a:t>
            </a:r>
            <a:r>
              <a:rPr sz="1100" b="0">
                <a:solidFill>
                  <a:srgbClr val="E5E5E5"/>
                </a:solidFill>
                <a:latin typeface="Consolas"/>
              </a:rPr>
              <a:t>Kalendarz PUSH (supervisor → bramka)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100" b="1">
                <a:solidFill>
                  <a:srgbClr val="4ADE80"/>
                </a:solidFill>
                <a:latin typeface="Consolas"/>
              </a:rPr>
              <a:t>✓ </a:t>
            </a:r>
            <a:r>
              <a:rPr sz="1100" b="0">
                <a:solidFill>
                  <a:srgbClr val="E5E5E5"/>
                </a:solidFill>
                <a:latin typeface="Consolas"/>
              </a:rPr>
              <a:t>Tryb pracy bramki (day/night/all-time)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100" b="1">
                <a:solidFill>
                  <a:srgbClr val="4ADE80"/>
                </a:solidFill>
                <a:latin typeface="Consolas"/>
              </a:rPr>
              <a:t>✓ </a:t>
            </a:r>
            <a:r>
              <a:rPr sz="1100" b="0">
                <a:solidFill>
                  <a:srgbClr val="E5E5E5"/>
                </a:solidFill>
                <a:latin typeface="Consolas"/>
              </a:rPr>
              <a:t>Dashboard bramki: Harmonogram/Pomiary/Alarmy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100" b="1">
                <a:solidFill>
                  <a:srgbClr val="4ADE80"/>
                </a:solidFill>
                <a:latin typeface="Consolas"/>
              </a:rPr>
              <a:t>✓ </a:t>
            </a:r>
            <a:r>
              <a:rPr sz="1100" b="0">
                <a:solidFill>
                  <a:srgbClr val="E5E5E5"/>
                </a:solidFill>
                <a:latin typeface="Consolas"/>
              </a:rPr>
              <a:t>LQI / link quality (force_update)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100" b="1">
                <a:solidFill>
                  <a:srgbClr val="4ADE80"/>
                </a:solidFill>
                <a:latin typeface="Consolas"/>
              </a:rPr>
              <a:t>✓ </a:t>
            </a:r>
            <a:r>
              <a:rPr sz="1100" b="0">
                <a:solidFill>
                  <a:srgbClr val="E5E5E5"/>
                </a:solidFill>
                <a:latin typeface="Consolas"/>
              </a:rPr>
              <a:t>Sterowanie switch + cmd retry→offline</a:t>
            </a:r>
          </a:p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100" b="1">
                <a:solidFill>
                  <a:srgbClr val="4ADE80"/>
                </a:solidFill>
                <a:latin typeface="Consolas"/>
              </a:rPr>
              <a:t>✓ </a:t>
            </a:r>
            <a:r>
              <a:rPr sz="1100" b="0">
                <a:solidFill>
                  <a:srgbClr val="E5E5E5"/>
                </a:solidFill>
                <a:latin typeface="Consolas"/>
              </a:rPr>
              <a:t>Parametry T1/T2/T3 + Send Config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417320"/>
            <a:ext cx="5120640" cy="466344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3A2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1554480"/>
            <a:ext cx="47548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BBF24"/>
                </a:solidFill>
                <a:latin typeface="Consolas"/>
              </a:rPr>
              <a:t>WYMAGA INTERWENCJI (sprzęt/decyzja)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057400"/>
            <a:ext cx="4754880" cy="3931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100" b="1">
                <a:solidFill>
                  <a:srgbClr val="F87171"/>
                </a:solidFill>
                <a:latin typeface="Consolas"/>
              </a:rPr>
              <a:t>[BLOK] </a:t>
            </a:r>
            <a:r>
              <a:rPr sz="1100" b="0">
                <a:solidFill>
                  <a:srgbClr val="E5E5E5"/>
                </a:solidFill>
                <a:latin typeface="Consolas"/>
              </a:rPr>
              <a:t>Kalendarz PULL (bramka→sup): chunk 100B w górę ginie — asymetria RF (anteny/TX)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100" b="1">
                <a:solidFill>
                  <a:srgbClr val="FBBF24"/>
                </a:solidFill>
                <a:latin typeface="Consolas"/>
              </a:rPr>
              <a:t>[WARN] </a:t>
            </a:r>
            <a:r>
              <a:rPr sz="1100" b="0">
                <a:solidFill>
                  <a:srgbClr val="E5E5E5"/>
                </a:solidFill>
                <a:latin typeface="Consolas"/>
              </a:rPr>
              <a:t>Switche: offline po timeout = fałszywy (nie raportują) → potrzebny z2m active-ping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100" b="1">
                <a:solidFill>
                  <a:srgbClr val="FBBF24"/>
                </a:solidFill>
                <a:latin typeface="Consolas"/>
              </a:rPr>
              <a:t>[WARN] </a:t>
            </a:r>
            <a:r>
              <a:rPr sz="1100" b="0">
                <a:solidFill>
                  <a:srgbClr val="E5E5E5"/>
                </a:solidFill>
                <a:latin typeface="Consolas"/>
              </a:rPr>
              <a:t>Commit: config.py ma realne sekrety → scrub przed git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100" b="1">
                <a:solidFill>
                  <a:srgbClr val="525252"/>
                </a:solidFill>
                <a:latin typeface="Consolas"/>
              </a:rPr>
              <a:t>[INFO] </a:t>
            </a:r>
            <a:r>
              <a:rPr sz="1100" b="0">
                <a:solidFill>
                  <a:srgbClr val="E5E5E5"/>
                </a:solidFill>
                <a:latin typeface="Consolas"/>
              </a:rPr>
              <a:t>Krok 8 (sterowanie pełne) i Krok 17 (parametry bidir) z planu 17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0080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525252"/>
                </a:solidFill>
                <a:latin typeface="Consolas"/>
              </a:rPr>
              <a:t>LoRa Zigbee SCADA v38 — BMS rozproszony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525252"/>
                </a:solidFill>
                <a:latin typeface="Consola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411480"/>
            <a:ext cx="109728" cy="502920"/>
          </a:xfrm>
          <a:prstGeom prst="round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525252"/>
                </a:solidFill>
                <a:latin typeface="Consolas"/>
              </a:rPr>
              <a:t>FUNKCJA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603504"/>
            <a:ext cx="1115568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600" b="1">
                <a:solidFill>
                  <a:srgbClr val="E5E5E5"/>
                </a:solidFill>
                <a:latin typeface="Consolas"/>
              </a:rPr>
              <a:t>Detekcja offline / online urządzeń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509760" y="457200"/>
            <a:ext cx="2240280" cy="45720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0" y="475488"/>
            <a:ext cx="2240280" cy="4206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4ADE80"/>
                </a:solidFill>
                <a:latin typeface="Consolas"/>
              </a:rPr>
              <a:t>● DZIAŁA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6583680" cy="466344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1F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54480"/>
            <a:ext cx="62179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22D3EE"/>
                </a:solidFill>
                <a:latin typeface="Consolas"/>
              </a:rPr>
              <a:t>PROCEDURA TESTOWA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65960"/>
            <a:ext cx="6217920" cy="40233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22D3EE"/>
                </a:solidFill>
                <a:latin typeface="Consolas"/>
              </a:rPr>
              <a:t>1. </a:t>
            </a:r>
            <a:r>
              <a:rPr sz="1200" b="0">
                <a:solidFill>
                  <a:srgbClr val="E5E5E5"/>
                </a:solidFill>
                <a:latin typeface="Consolas"/>
              </a:rPr>
              <a:t>Na bramce: odłącz zasilanie urządzenia Zigbee (np. Temp 1) lub wyjmij baterię.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22D3EE"/>
                </a:solidFill>
                <a:latin typeface="Consolas"/>
              </a:rPr>
              <a:t>2. </a:t>
            </a:r>
            <a:r>
              <a:rPr sz="1200" b="0">
                <a:solidFill>
                  <a:srgbClr val="E5E5E5"/>
                </a:solidFill>
                <a:latin typeface="Consolas"/>
              </a:rPr>
              <a:t>Odczekaj &gt; timeout danego typu (T1 switch 58min / T2 sensor 60min / T3 door-leak 120min).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22D3EE"/>
                </a:solidFill>
                <a:latin typeface="Consolas"/>
              </a:rPr>
              <a:t>3. </a:t>
            </a:r>
            <a:r>
              <a:rPr sz="1200" b="0">
                <a:solidFill>
                  <a:srgbClr val="E5E5E5"/>
                </a:solidFill>
                <a:latin typeface="Consolas"/>
              </a:rPr>
              <a:t>Obserwuj log bramki: '💀 &lt;dev&gt; OFFLINE (cisza z2m ...)'.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22D3EE"/>
                </a:solidFill>
                <a:latin typeface="Consolas"/>
              </a:rPr>
              <a:t>4. </a:t>
            </a:r>
            <a:r>
              <a:rPr sz="1200" b="0">
                <a:solidFill>
                  <a:srgbClr val="E5E5E5"/>
                </a:solidFill>
                <a:latin typeface="Consolas"/>
              </a:rPr>
              <a:t>Sprawdź dashboard bramki (zakładka Bramka) — kafel OFFLINE rośnie, urządzenie czerwone.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22D3EE"/>
                </a:solidFill>
                <a:latin typeface="Consolas"/>
              </a:rPr>
              <a:t>5. </a:t>
            </a:r>
            <a:r>
              <a:rPr sz="1200" b="0">
                <a:solidFill>
                  <a:srgbClr val="E5E5E5"/>
                </a:solidFill>
                <a:latin typeface="Consolas"/>
              </a:rPr>
              <a:t>Sprawdź supervisor: sensor.lora_gw_g1_devices_offline + binary_sensor ...available = off.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22D3EE"/>
                </a:solidFill>
                <a:latin typeface="Consolas"/>
              </a:rPr>
              <a:t>6. </a:t>
            </a:r>
            <a:r>
              <a:rPr sz="1200" b="0">
                <a:solidFill>
                  <a:srgbClr val="E5E5E5"/>
                </a:solidFill>
                <a:latin typeface="Consolas"/>
              </a:rPr>
              <a:t>Podłącz urządzenie → następny raport z2m → powrót.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52360" y="1417320"/>
            <a:ext cx="4069080" cy="466344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1F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0" y="1554480"/>
            <a:ext cx="3657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4ADE80"/>
                </a:solidFill>
                <a:latin typeface="Consolas"/>
              </a:rPr>
              <a:t>OCZEKIWANY WYNIK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1965960"/>
            <a:ext cx="3657600" cy="40233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4ADE80"/>
                </a:solidFill>
                <a:latin typeface="Consolas"/>
              </a:rPr>
              <a:t>✓ </a:t>
            </a:r>
            <a:r>
              <a:rPr sz="1100" b="0">
                <a:solidFill>
                  <a:srgbClr val="E5E5E5"/>
                </a:solidFill>
                <a:latin typeface="Consolas"/>
              </a:rPr>
              <a:t>Bramka i supervisor pokazują TO SAMO urządzenie offline.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4ADE80"/>
                </a:solidFill>
                <a:latin typeface="Consolas"/>
              </a:rPr>
              <a:t>✓ </a:t>
            </a:r>
            <a:r>
              <a:rPr sz="1100" b="0">
                <a:solidFill>
                  <a:srgbClr val="E5E5E5"/>
                </a:solidFill>
                <a:latin typeface="Consolas"/>
              </a:rPr>
              <a:t>Licznik = lista = *_available (spójność).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4ADE80"/>
                </a:solidFill>
                <a:latin typeface="Consolas"/>
              </a:rPr>
              <a:t>✓ </a:t>
            </a:r>
            <a:r>
              <a:rPr sz="1100" b="0">
                <a:solidFill>
                  <a:srgbClr val="E5E5E5"/>
                </a:solidFill>
                <a:latin typeface="Consolas"/>
              </a:rPr>
              <a:t>Po powrocie: '🟢 ONLINE' i licznik spada.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4ADE80"/>
                </a:solidFill>
                <a:latin typeface="Consolas"/>
              </a:rPr>
              <a:t>✓ </a:t>
            </a:r>
            <a:r>
              <a:rPr sz="1100" b="0">
                <a:solidFill>
                  <a:srgbClr val="E5E5E5"/>
                </a:solidFill>
                <a:latin typeface="Consolas"/>
              </a:rPr>
              <a:t>Reconcile co 900s łapie zgubione pakiety.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40080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525252"/>
                </a:solidFill>
                <a:latin typeface="Consolas"/>
              </a:rPr>
              <a:t>LoRa Zigbee SCADA v38 — BMS rozproszony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525252"/>
                </a:solidFill>
                <a:latin typeface="Consola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411480"/>
            <a:ext cx="109728" cy="502920"/>
          </a:xfrm>
          <a:prstGeom prst="round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525252"/>
                </a:solidFill>
                <a:latin typeface="Consolas"/>
              </a:rPr>
              <a:t>FUNKCJA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603504"/>
            <a:ext cx="1115568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600" b="1">
                <a:solidFill>
                  <a:srgbClr val="E5E5E5"/>
                </a:solidFill>
                <a:latin typeface="Consolas"/>
              </a:rPr>
              <a:t>Anomalie + popup z listą + clear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509760" y="457200"/>
            <a:ext cx="2240280" cy="45720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0" y="475488"/>
            <a:ext cx="2240280" cy="4206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4ADE80"/>
                </a:solidFill>
                <a:latin typeface="Consolas"/>
              </a:rPr>
              <a:t>● DZIAŁA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6583680" cy="466344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1F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54480"/>
            <a:ext cx="62179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22D3EE"/>
                </a:solidFill>
                <a:latin typeface="Consolas"/>
              </a:rPr>
              <a:t>PROCEDURA TESTOWA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65960"/>
            <a:ext cx="6217920" cy="40233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22D3EE"/>
                </a:solidFill>
                <a:latin typeface="Consolas"/>
              </a:rPr>
              <a:t>1. </a:t>
            </a:r>
            <a:r>
              <a:rPr sz="1200" b="0">
                <a:solidFill>
                  <a:srgbClr val="E5E5E5"/>
                </a:solidFill>
                <a:latin typeface="Consolas"/>
              </a:rPr>
              <a:t>Wywołaj anomalię: offline (jak F01), niska bateria (&lt;25%), lub stagnacja (brak zmian 72h).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22D3EE"/>
                </a:solidFill>
                <a:latin typeface="Consolas"/>
              </a:rPr>
              <a:t>2. </a:t>
            </a:r>
            <a:r>
              <a:rPr sz="1200" b="0">
                <a:solidFill>
                  <a:srgbClr val="E5E5E5"/>
                </a:solidFill>
                <a:latin typeface="Consolas"/>
              </a:rPr>
              <a:t>Na dashboardzie supervisora (widok Bramki) kliknij kafel OFFLINE / BATERIA / INNE.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22D3EE"/>
                </a:solidFill>
                <a:latin typeface="Consolas"/>
              </a:rPr>
              <a:t>3. </a:t>
            </a:r>
            <a:r>
              <a:rPr sz="1200" b="0">
                <a:solidFill>
                  <a:srgbClr val="E5E5E5"/>
                </a:solidFill>
                <a:latin typeface="Consolas"/>
              </a:rPr>
              <a:t>Otworzy się popup z dynamiczną listą: urządzenie · bramka · typ · data godzina.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22D3EE"/>
                </a:solidFill>
                <a:latin typeface="Consolas"/>
              </a:rPr>
              <a:t>4. </a:t>
            </a:r>
            <a:r>
              <a:rPr sz="1200" b="0">
                <a:solidFill>
                  <a:srgbClr val="E5E5E5"/>
                </a:solidFill>
                <a:latin typeface="Consolas"/>
              </a:rPr>
              <a:t>Kliknij wiersz konkretnej anomalii → clear tej jednej anomalii.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22D3EE"/>
                </a:solidFill>
                <a:latin typeface="Consolas"/>
              </a:rPr>
              <a:t>5. </a:t>
            </a:r>
            <a:r>
              <a:rPr sz="1200" b="0">
                <a:solidFill>
                  <a:srgbClr val="E5E5E5"/>
                </a:solidFill>
                <a:latin typeface="Consolas"/>
              </a:rPr>
              <a:t>Lub użyj 'WYCZYŚĆ WSZYSTKIE &lt;typ&gt;' (z potwierdzeniem).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52360" y="1417320"/>
            <a:ext cx="4069080" cy="466344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1F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0" y="1554480"/>
            <a:ext cx="3657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4ADE80"/>
                </a:solidFill>
                <a:latin typeface="Consolas"/>
              </a:rPr>
              <a:t>OCZEKIWANY WYNIK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1965960"/>
            <a:ext cx="3657600" cy="40233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4ADE80"/>
                </a:solidFill>
                <a:latin typeface="Consolas"/>
              </a:rPr>
              <a:t>✓ </a:t>
            </a:r>
            <a:r>
              <a:rPr sz="1100" b="0">
                <a:solidFill>
                  <a:srgbClr val="E5E5E5"/>
                </a:solidFill>
                <a:latin typeface="Consolas"/>
              </a:rPr>
              <a:t>Popup pokazuje listę z timestampem DD.MM HH:MM.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4ADE80"/>
                </a:solidFill>
                <a:latin typeface="Consolas"/>
              </a:rPr>
              <a:t>✓ </a:t>
            </a:r>
            <a:r>
              <a:rPr sz="1100" b="0">
                <a:solidFill>
                  <a:srgbClr val="E5E5E5"/>
                </a:solidFill>
                <a:latin typeface="Consolas"/>
              </a:rPr>
              <a:t>Klik wiersza → '🗑️ clear ręczny ... n=1' w logu.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4ADE80"/>
                </a:solidFill>
                <a:latin typeface="Consolas"/>
              </a:rPr>
              <a:t>✓ </a:t>
            </a:r>
            <a:r>
              <a:rPr sz="1100" b="0">
                <a:solidFill>
                  <a:srgbClr val="E5E5E5"/>
                </a:solidFill>
                <a:latin typeface="Consolas"/>
              </a:rPr>
              <a:t>Realne offline wraca po reconcile (poprawne).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4ADE80"/>
                </a:solidFill>
                <a:latin typeface="Consolas"/>
              </a:rPr>
              <a:t>✓ </a:t>
            </a:r>
            <a:r>
              <a:rPr sz="1100" b="0">
                <a:solidFill>
                  <a:srgbClr val="E5E5E5"/>
                </a:solidFill>
                <a:latin typeface="Consolas"/>
              </a:rPr>
              <a:t>Każda anomalia z nazwą + ID bramki.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40080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525252"/>
                </a:solidFill>
                <a:latin typeface="Consolas"/>
              </a:rPr>
              <a:t>LoRa Zigbee SCADA v38 — BMS rozproszony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525252"/>
                </a:solidFill>
                <a:latin typeface="Consola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411480"/>
            <a:ext cx="109728" cy="502920"/>
          </a:xfrm>
          <a:prstGeom prst="round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525252"/>
                </a:solidFill>
                <a:latin typeface="Consolas"/>
              </a:rPr>
              <a:t>FUNKCJA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603504"/>
            <a:ext cx="1115568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600" b="1">
                <a:solidFill>
                  <a:srgbClr val="E5E5E5"/>
                </a:solidFill>
                <a:latin typeface="Consolas"/>
              </a:rPr>
              <a:t>Kalendarz PUSH (supervisor → bramka)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509760" y="457200"/>
            <a:ext cx="2240280" cy="45720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0" y="475488"/>
            <a:ext cx="2240280" cy="4206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4ADE80"/>
                </a:solidFill>
                <a:latin typeface="Consolas"/>
              </a:rPr>
              <a:t>● DZIAŁA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6583680" cy="466344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1F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54480"/>
            <a:ext cx="62179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22D3EE"/>
                </a:solidFill>
                <a:latin typeface="Consolas"/>
              </a:rPr>
              <a:t>PROCEDURA TESTOWA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65960"/>
            <a:ext cx="6217920" cy="40233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22D3EE"/>
                </a:solidFill>
                <a:latin typeface="Consolas"/>
              </a:rPr>
              <a:t>1. </a:t>
            </a:r>
            <a:r>
              <a:rPr sz="1200" b="0">
                <a:solidFill>
                  <a:srgbClr val="E5E5E5"/>
                </a:solidFill>
                <a:latin typeface="Consolas"/>
              </a:rPr>
              <a:t>Na supervisorze edytuj calendar.lora_global — dodaj wydarzenie (PRODUKCJA/PRZERWA/SERWIS).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22D3EE"/>
                </a:solidFill>
                <a:latin typeface="Consolas"/>
              </a:rPr>
              <a:t>2. </a:t>
            </a:r>
            <a:r>
              <a:rPr sz="1200" b="0">
                <a:solidFill>
                  <a:srgbClr val="E5E5E5"/>
                </a:solidFill>
                <a:latin typeface="Consolas"/>
              </a:rPr>
              <a:t>Naciśnij przycisk 'Sync Calendar All' (lub per-bramka 'Sync Calendar').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22D3EE"/>
                </a:solidFill>
                <a:latin typeface="Consolas"/>
              </a:rPr>
              <a:t>3. </a:t>
            </a:r>
            <a:r>
              <a:rPr sz="1200" b="0">
                <a:solidFill>
                  <a:srgbClr val="E5E5E5"/>
                </a:solidFill>
                <a:latin typeface="Consolas"/>
              </a:rPr>
              <a:t>Obserwuj log supervisora: 'HA → N slotów' → cal_begin/chunk/end.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22D3EE"/>
                </a:solidFill>
                <a:latin typeface="Consolas"/>
              </a:rPr>
              <a:t>4. </a:t>
            </a:r>
            <a:r>
              <a:rPr sz="1200" b="0">
                <a:solidFill>
                  <a:srgbClr val="E5E5E5"/>
                </a:solidFill>
                <a:latin typeface="Consolas"/>
              </a:rPr>
              <a:t>Obserwuj log bramki: '📥 Odebrano N slotów' → 'ICS zapisany' → 'HA reload'.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22D3EE"/>
                </a:solidFill>
                <a:latin typeface="Consolas"/>
              </a:rPr>
              <a:t>5. </a:t>
            </a:r>
            <a:r>
              <a:rPr sz="1200" b="0">
                <a:solidFill>
                  <a:srgbClr val="E5E5E5"/>
                </a:solidFill>
                <a:latin typeface="Consolas"/>
              </a:rPr>
              <a:t>Sprawdź calendar.lora_g1 na bramce — ma nowe wydarzenie.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22D3EE"/>
                </a:solidFill>
                <a:latin typeface="Consolas"/>
              </a:rPr>
              <a:t>6. </a:t>
            </a:r>
            <a:r>
              <a:rPr sz="1200" b="0">
                <a:solidFill>
                  <a:srgbClr val="E5E5E5"/>
                </a:solidFill>
                <a:latin typeface="Consolas"/>
              </a:rPr>
              <a:t>Sprawdź sensor ...tryb i ...hash_kalendarza (zmiana).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52360" y="1417320"/>
            <a:ext cx="4069080" cy="466344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1F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0" y="1554480"/>
            <a:ext cx="3657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4ADE80"/>
                </a:solidFill>
                <a:latin typeface="Consolas"/>
              </a:rPr>
              <a:t>OCZEKIWANY WYNIK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1965960"/>
            <a:ext cx="3657600" cy="40233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4ADE80"/>
                </a:solidFill>
                <a:latin typeface="Consolas"/>
              </a:rPr>
              <a:t>✓ </a:t>
            </a:r>
            <a:r>
              <a:rPr sz="1100" b="0">
                <a:solidFill>
                  <a:srgbClr val="E5E5E5"/>
                </a:solidFill>
                <a:latin typeface="Consolas"/>
              </a:rPr>
              <a:t>calendar.lora_g1 = calendar.lora_global (forward).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4ADE80"/>
                </a:solidFill>
                <a:latin typeface="Consolas"/>
              </a:rPr>
              <a:t>✓ </a:t>
            </a:r>
            <a:r>
              <a:rPr sz="1100" b="0">
                <a:solidFill>
                  <a:srgbClr val="E5E5E5"/>
                </a:solidFill>
                <a:latin typeface="Consolas"/>
              </a:rPr>
              <a:t>Hash kalendarza zmienia się i zgadza po obu str.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4ADE80"/>
                </a:solidFill>
                <a:latin typeface="Consolas"/>
              </a:rPr>
              <a:t>✓ </a:t>
            </a:r>
            <a:r>
              <a:rPr sz="1100" b="0">
                <a:solidFill>
                  <a:srgbClr val="E5E5E5"/>
                </a:solidFill>
                <a:latin typeface="Consolas"/>
              </a:rPr>
              <a:t>Tryb produkcji aktualny + następna zmiana.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4ADE80"/>
                </a:solidFill>
                <a:latin typeface="Consolas"/>
              </a:rPr>
              <a:t>✓ </a:t>
            </a:r>
            <a:r>
              <a:rPr sz="1100" b="0">
                <a:solidFill>
                  <a:srgbClr val="E5E5E5"/>
                </a:solidFill>
                <a:latin typeface="Consolas"/>
              </a:rPr>
              <a:t>Drift-hash w HB auto-resyncuje.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4ADE80"/>
                </a:solidFill>
                <a:latin typeface="Consolas"/>
              </a:rPr>
              <a:t>✓ </a:t>
            </a:r>
            <a:r>
              <a:rPr sz="1100" b="0">
                <a:solidFill>
                  <a:srgbClr val="E5E5E5"/>
                </a:solidFill>
                <a:latin typeface="Consolas"/>
              </a:rPr>
              <a:t>Transfer z CRC + ACK + retransmit.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40080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525252"/>
                </a:solidFill>
                <a:latin typeface="Consolas"/>
              </a:rPr>
              <a:t>LoRa Zigbee SCADA v38 — BMS rozproszony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525252"/>
                </a:solidFill>
                <a:latin typeface="Consola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411480"/>
            <a:ext cx="109728" cy="502920"/>
          </a:xfrm>
          <a:prstGeom prst="round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525252"/>
                </a:solidFill>
                <a:latin typeface="Consolas"/>
              </a:rPr>
              <a:t>FUNKCJA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603504"/>
            <a:ext cx="1115568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600" b="1">
                <a:solidFill>
                  <a:srgbClr val="E5E5E5"/>
                </a:solidFill>
                <a:latin typeface="Consolas"/>
              </a:rPr>
              <a:t>Kalendarz PULL (bramka → supervisor)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509760" y="457200"/>
            <a:ext cx="2240280" cy="45720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0" y="475488"/>
            <a:ext cx="2240280" cy="4206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F87171"/>
                </a:solidFill>
                <a:latin typeface="Consolas"/>
              </a:rPr>
              <a:t>● BLOK RF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6583680" cy="466344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1F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54480"/>
            <a:ext cx="62179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22D3EE"/>
                </a:solidFill>
                <a:latin typeface="Consolas"/>
              </a:rPr>
              <a:t>PROCEDURA TESTOWA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65960"/>
            <a:ext cx="6217920" cy="40233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22D3EE"/>
                </a:solidFill>
                <a:latin typeface="Consolas"/>
              </a:rPr>
              <a:t>1. </a:t>
            </a:r>
            <a:r>
              <a:rPr sz="1200" b="0">
                <a:solidFill>
                  <a:srgbClr val="E5E5E5"/>
                </a:solidFill>
                <a:latin typeface="Consolas"/>
              </a:rPr>
              <a:t>Na bramce edytuj harmonogram lokalnie (wymaga gw_calendar_id w config).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22D3EE"/>
                </a:solidFill>
                <a:latin typeface="Consolas"/>
              </a:rPr>
              <a:t>2. </a:t>
            </a:r>
            <a:r>
              <a:rPr sz="1200" b="0">
                <a:solidFill>
                  <a:srgbClr val="E5E5E5"/>
                </a:solidFill>
                <a:latin typeface="Consolas"/>
              </a:rPr>
              <a:t>Naciśnij 'Push Schedule Up' na dashboardzie bramki.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22D3EE"/>
                </a:solidFill>
                <a:latin typeface="Consolas"/>
              </a:rPr>
              <a:t>3. </a:t>
            </a:r>
            <a:r>
              <a:rPr sz="1200" b="0">
                <a:solidFill>
                  <a:srgbClr val="E5E5E5"/>
                </a:solidFill>
                <a:latin typeface="Consolas"/>
              </a:rPr>
              <a:t>Obserwuj log bramki: 'Begin gw_push' → cal_chunk.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22D3EE"/>
                </a:solidFill>
                <a:latin typeface="Consolas"/>
              </a:rPr>
              <a:t>4. </a:t>
            </a:r>
            <a:r>
              <a:rPr sz="1200" b="0">
                <a:solidFill>
                  <a:srgbClr val="E5E5E5"/>
                </a:solidFill>
                <a:latin typeface="Consolas"/>
              </a:rPr>
              <a:t>Obserwuj supervisor: 'Begin gw_push' → 'Odebrano' → mirror calendar.lora_g1.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22D3EE"/>
                </a:solidFill>
                <a:latin typeface="Consolas"/>
              </a:rPr>
              <a:t>5. </a:t>
            </a:r>
            <a:r>
              <a:rPr sz="1200" b="0">
                <a:solidFill>
                  <a:srgbClr val="E5E5E5"/>
                </a:solidFill>
                <a:latin typeface="Consolas"/>
              </a:rPr>
              <a:t>BLOKER: chunk 100B w górę chronicznie ginie (RF asymetria) → 'przerwane'.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52360" y="1417320"/>
            <a:ext cx="4069080" cy="466344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1F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0" y="1554480"/>
            <a:ext cx="3657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4ADE80"/>
                </a:solidFill>
                <a:latin typeface="Consolas"/>
              </a:rPr>
              <a:t>OCZEKIWANY WYNIK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1965960"/>
            <a:ext cx="3657600" cy="40233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4ADE80"/>
                </a:solidFill>
                <a:latin typeface="Consolas"/>
              </a:rPr>
              <a:t>✓ </a:t>
            </a:r>
            <a:r>
              <a:rPr sz="1100" b="0">
                <a:solidFill>
                  <a:srgbClr val="E5E5E5"/>
                </a:solidFill>
                <a:latin typeface="Consolas"/>
              </a:rPr>
              <a:t>Mechanizm wired: begin dociera, retransmit działa.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4ADE80"/>
                </a:solidFill>
                <a:latin typeface="Consolas"/>
              </a:rPr>
              <a:t>✓ </a:t>
            </a:r>
            <a:r>
              <a:rPr sz="1100" b="0">
                <a:solidFill>
                  <a:srgbClr val="E5E5E5"/>
                </a:solidFill>
                <a:latin typeface="Consolas"/>
              </a:rPr>
              <a:t>Mirror-only (bez pętli, master = global).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4ADE80"/>
                </a:solidFill>
                <a:latin typeface="Consolas"/>
              </a:rPr>
              <a:t>✓ </a:t>
            </a:r>
            <a:r>
              <a:rPr sz="1100" b="0">
                <a:solidFill>
                  <a:srgbClr val="E5E5E5"/>
                </a:solidFill>
                <a:latin typeface="Consolas"/>
              </a:rPr>
              <a:t>⚠ Wymaga poprawy RF w górę (sprzęt):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4ADE80"/>
                </a:solidFill>
                <a:latin typeface="Consolas"/>
              </a:rPr>
              <a:t>✓ </a:t>
            </a:r>
            <a:r>
              <a:rPr sz="1100" b="0">
                <a:solidFill>
                  <a:srgbClr val="E5E5E5"/>
                </a:solidFill>
                <a:latin typeface="Consolas"/>
              </a:rPr>
              <a:t>↑TX bramki / antena RX sup / mniejszy chunk.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40080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525252"/>
                </a:solidFill>
                <a:latin typeface="Consolas"/>
              </a:rPr>
              <a:t>LoRa Zigbee SCADA v38 — BMS rozproszony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525252"/>
                </a:solidFill>
                <a:latin typeface="Consola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411480"/>
            <a:ext cx="109728" cy="502920"/>
          </a:xfrm>
          <a:prstGeom prst="round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525252"/>
                </a:solidFill>
                <a:latin typeface="Consolas"/>
              </a:rPr>
              <a:t>FUNKCJA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603504"/>
            <a:ext cx="1115568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600" b="1">
                <a:solidFill>
                  <a:srgbClr val="E5E5E5"/>
                </a:solidFill>
                <a:latin typeface="Consolas"/>
              </a:rPr>
              <a:t>Tryb pracy bramki (day / night / all-time)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509760" y="457200"/>
            <a:ext cx="2240280" cy="45720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0" y="475488"/>
            <a:ext cx="2240280" cy="4206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4ADE80"/>
                </a:solidFill>
                <a:latin typeface="Consolas"/>
              </a:rPr>
              <a:t>● DZIAŁA*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6583680" cy="466344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1F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54480"/>
            <a:ext cx="62179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22D3EE"/>
                </a:solidFill>
                <a:latin typeface="Consolas"/>
              </a:rPr>
              <a:t>PROCEDURA TESTOWA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65960"/>
            <a:ext cx="6217920" cy="40233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22D3EE"/>
                </a:solidFill>
                <a:latin typeface="Consolas"/>
              </a:rPr>
              <a:t>1. </a:t>
            </a:r>
            <a:r>
              <a:rPr sz="1200" b="0">
                <a:solidFill>
                  <a:srgbClr val="E5E5E5"/>
                </a:solidFill>
                <a:latin typeface="Consolas"/>
              </a:rPr>
              <a:t>W config bramki ustaw gateway_mode.operating_mode = 'day' lub 'night' (+ lat/lon lub godziny).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22D3EE"/>
                </a:solidFill>
                <a:latin typeface="Consolas"/>
              </a:rPr>
              <a:t>2. </a:t>
            </a:r>
            <a:r>
              <a:rPr sz="1200" b="0">
                <a:solidFill>
                  <a:srgbClr val="E5E5E5"/>
                </a:solidFill>
                <a:latin typeface="Consolas"/>
              </a:rPr>
              <a:t>Restart procesu bramki (przez Launcher).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22D3EE"/>
                </a:solidFill>
                <a:latin typeface="Consolas"/>
              </a:rPr>
              <a:t>3. </a:t>
            </a:r>
            <a:r>
              <a:rPr sz="1200" b="0">
                <a:solidFill>
                  <a:srgbClr val="E5E5E5"/>
                </a:solidFill>
                <a:latin typeface="Consolas"/>
              </a:rPr>
              <a:t>Sprawdź sensor ...tryb_pracy_bramki = Dzienna/Nocna/Całodobowa.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22D3EE"/>
                </a:solidFill>
                <a:latin typeface="Consolas"/>
              </a:rPr>
              <a:t>4. </a:t>
            </a:r>
            <a:r>
              <a:rPr sz="1200" b="0">
                <a:solidFill>
                  <a:srgbClr val="E5E5E5"/>
                </a:solidFill>
                <a:latin typeface="Consolas"/>
              </a:rPr>
              <a:t>W oknie NIEAKTYWNYM: urządzenia bez zasilania NIE są zgłaszane jako offline (supresja).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22D3EE"/>
                </a:solidFill>
                <a:latin typeface="Consolas"/>
              </a:rPr>
              <a:t>5. </a:t>
            </a:r>
            <a:r>
              <a:rPr sz="1200" b="0">
                <a:solidFill>
                  <a:srgbClr val="E5E5E5"/>
                </a:solidFill>
                <a:latin typeface="Consolas"/>
              </a:rPr>
              <a:t>Sprawdź pole 'ga' w HB (1=aktywna, 0=wstrzymana) i kartę na dashboardzie.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52360" y="1417320"/>
            <a:ext cx="4069080" cy="466344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1F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0" y="1554480"/>
            <a:ext cx="3657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4ADE80"/>
                </a:solidFill>
                <a:latin typeface="Consolas"/>
              </a:rPr>
              <a:t>OCZEKIWANY WYNIK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1965960"/>
            <a:ext cx="3657600" cy="40233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4ADE80"/>
                </a:solidFill>
                <a:latin typeface="Consolas"/>
              </a:rPr>
              <a:t>✓ </a:t>
            </a:r>
            <a:r>
              <a:rPr sz="1100" b="0">
                <a:solidFill>
                  <a:srgbClr val="E5E5E5"/>
                </a:solidFill>
                <a:latin typeface="Consolas"/>
              </a:rPr>
              <a:t>Tryb widoczny jako encja + karta (Harmonogram).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4ADE80"/>
                </a:solidFill>
                <a:latin typeface="Consolas"/>
              </a:rPr>
              <a:t>✓ </a:t>
            </a:r>
            <a:r>
              <a:rPr sz="1100" b="0">
                <a:solidFill>
                  <a:srgbClr val="E5E5E5"/>
                </a:solidFill>
                <a:latin typeface="Consolas"/>
              </a:rPr>
              <a:t>Supresja offline gdy bramka nieaktywna.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4ADE80"/>
                </a:solidFill>
                <a:latin typeface="Consolas"/>
              </a:rPr>
              <a:t>✓ </a:t>
            </a:r>
            <a:r>
              <a:rPr sz="1100" b="0">
                <a:solidFill>
                  <a:srgbClr val="E5E5E5"/>
                </a:solidFill>
                <a:latin typeface="Consolas"/>
              </a:rPr>
              <a:t>Solar (sunrise equation) lub stałe godziny.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4ADE80"/>
                </a:solidFill>
                <a:latin typeface="Consolas"/>
              </a:rPr>
              <a:t>✓ </a:t>
            </a:r>
            <a:r>
              <a:rPr sz="1100" b="0">
                <a:solidFill>
                  <a:srgbClr val="E5E5E5"/>
                </a:solidFill>
                <a:latin typeface="Consolas"/>
              </a:rPr>
              <a:t>all-time = brak supresji (domyślnie).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40080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525252"/>
                </a:solidFill>
                <a:latin typeface="Consolas"/>
              </a:rPr>
              <a:t>LoRa Zigbee SCADA v38 — BMS rozproszony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525252"/>
                </a:solidFill>
                <a:latin typeface="Consola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411480"/>
            <a:ext cx="109728" cy="502920"/>
          </a:xfrm>
          <a:prstGeom prst="round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525252"/>
                </a:solidFill>
                <a:latin typeface="Consolas"/>
              </a:rPr>
              <a:t>FUNKCJA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603504"/>
            <a:ext cx="1115568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600" b="1">
                <a:solidFill>
                  <a:srgbClr val="E5E5E5"/>
                </a:solidFill>
                <a:latin typeface="Consolas"/>
              </a:rPr>
              <a:t>Sterowanie + dashboardy + LQI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509760" y="457200"/>
            <a:ext cx="2240280" cy="45720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0" y="475488"/>
            <a:ext cx="2240280" cy="4206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4ADE80"/>
                </a:solidFill>
                <a:latin typeface="Consolas"/>
              </a:rPr>
              <a:t>● DZIAŁA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6583680" cy="466344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1F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54480"/>
            <a:ext cx="62179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22D3EE"/>
                </a:solidFill>
                <a:latin typeface="Consolas"/>
              </a:rPr>
              <a:t>PROCEDURA TESTOWA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65960"/>
            <a:ext cx="6217920" cy="40233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22D3EE"/>
                </a:solidFill>
                <a:latin typeface="Consolas"/>
              </a:rPr>
              <a:t>1. </a:t>
            </a:r>
            <a:r>
              <a:rPr sz="1200" b="0">
                <a:solidFill>
                  <a:srgbClr val="E5E5E5"/>
                </a:solidFill>
                <a:latin typeface="Consolas"/>
              </a:rPr>
              <a:t>Dashboard bramki → zakładka Sterowanie → kliknij switch (Test 1/2) → ON/OFF.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22D3EE"/>
                </a:solidFill>
                <a:latin typeface="Consolas"/>
              </a:rPr>
              <a:t>2. </a:t>
            </a:r>
            <a:r>
              <a:rPr sz="1200" b="0">
                <a:solidFill>
                  <a:srgbClr val="E5E5E5"/>
                </a:solidFill>
                <a:latin typeface="Consolas"/>
              </a:rPr>
              <a:t>Obserwuj: komenda → Z2M → potwierdzenie 'st' → odbicie stanu w HA.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22D3EE"/>
                </a:solidFill>
                <a:latin typeface="Consolas"/>
              </a:rPr>
              <a:t>3. </a:t>
            </a:r>
            <a:r>
              <a:rPr sz="1200" b="0">
                <a:solidFill>
                  <a:srgbClr val="E5E5E5"/>
                </a:solidFill>
                <a:latin typeface="Consolas"/>
              </a:rPr>
              <a:t>Brak potwierdzenia: retry ×2 (15s) → '💀 brak st → OFFLINE'.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22D3EE"/>
                </a:solidFill>
                <a:latin typeface="Consolas"/>
              </a:rPr>
              <a:t>4. </a:t>
            </a:r>
            <a:r>
              <a:rPr sz="1200" b="0">
                <a:solidFill>
                  <a:srgbClr val="E5E5E5"/>
                </a:solidFill>
                <a:latin typeface="Consolas"/>
              </a:rPr>
              <a:t>Zakładka Pomiary: temp/wilgotność + wykresy 24h; Alarmy: leak/door.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22D3EE"/>
                </a:solidFill>
                <a:latin typeface="Consolas"/>
              </a:rPr>
              <a:t>5. </a:t>
            </a:r>
            <a:r>
              <a:rPr sz="1200" b="0">
                <a:solidFill>
                  <a:srgbClr val="E5E5E5"/>
                </a:solidFill>
                <a:latin typeface="Consolas"/>
              </a:rPr>
              <a:t>Każdy kafel: ● online/offline · 🔋 bateria · 📶 LQI (link quality).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52360" y="1417320"/>
            <a:ext cx="4069080" cy="466344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1F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0" y="1554480"/>
            <a:ext cx="3657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4ADE80"/>
                </a:solidFill>
                <a:latin typeface="Consolas"/>
              </a:rPr>
              <a:t>OCZEKIWANY WYNIK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1965960"/>
            <a:ext cx="3657600" cy="40233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4ADE80"/>
                </a:solidFill>
                <a:latin typeface="Consolas"/>
              </a:rPr>
              <a:t>✓ </a:t>
            </a:r>
            <a:r>
              <a:rPr sz="1100" b="0">
                <a:solidFill>
                  <a:srgbClr val="E5E5E5"/>
                </a:solidFill>
                <a:latin typeface="Consolas"/>
              </a:rPr>
              <a:t>Switch sterowalny dwukierunkowo (tap→toggle).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4ADE80"/>
                </a:solidFill>
                <a:latin typeface="Consolas"/>
              </a:rPr>
              <a:t>✓ </a:t>
            </a:r>
            <a:r>
              <a:rPr sz="1100" b="0">
                <a:solidFill>
                  <a:srgbClr val="E5E5E5"/>
                </a:solidFill>
                <a:latin typeface="Consolas"/>
              </a:rPr>
              <a:t>Zmiana zewnętrzna też odbita (propagacja z2m).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4ADE80"/>
                </a:solidFill>
                <a:latin typeface="Consolas"/>
              </a:rPr>
              <a:t>✓ </a:t>
            </a:r>
            <a:r>
              <a:rPr sz="1100" b="0">
                <a:solidFill>
                  <a:srgbClr val="E5E5E5"/>
                </a:solidFill>
                <a:latin typeface="Consolas"/>
              </a:rPr>
              <a:t>LQI świeży (force_update co raport).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4ADE80"/>
                </a:solidFill>
                <a:latin typeface="Consolas"/>
              </a:rPr>
              <a:t>✓ </a:t>
            </a:r>
            <a:r>
              <a:rPr sz="1100" b="0">
                <a:solidFill>
                  <a:srgbClr val="E5E5E5"/>
                </a:solidFill>
                <a:latin typeface="Consolas"/>
              </a:rPr>
              <a:t>Ikony w osobnej kolumnie (czytelne).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40080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525252"/>
                </a:solidFill>
                <a:latin typeface="Consolas"/>
              </a:rPr>
              <a:t>LoRa Zigbee SCADA v38 — BMS rozproszony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525252"/>
                </a:solidFill>
                <a:latin typeface="Consola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411480"/>
            <a:ext cx="109728" cy="502920"/>
          </a:xfrm>
          <a:prstGeom prst="round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525252"/>
                </a:solidFill>
                <a:latin typeface="Consolas"/>
              </a:rPr>
              <a:t>DLA CIEBIE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603504"/>
            <a:ext cx="1115568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600" b="1">
                <a:solidFill>
                  <a:srgbClr val="E5E5E5"/>
                </a:solidFill>
                <a:latin typeface="Consolas"/>
              </a:rPr>
              <a:t>Co musisz zrobić Ty (ręce / decyzje)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63040"/>
            <a:ext cx="109728" cy="868680"/>
          </a:xfrm>
          <a:prstGeom prst="round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1060704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>
                <a:solidFill>
                  <a:srgbClr val="F87171"/>
                </a:solidFill>
                <a:latin typeface="Consolas"/>
              </a:rPr>
              <a:t>1. RF w górę (PULL kalendarza)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47088"/>
            <a:ext cx="1060704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737373"/>
                </a:solidFill>
                <a:latin typeface="Consolas"/>
              </a:rPr>
              <a:t>Przy maszynach: zwiększ TX power bramki LUB lepsza antena RX supervisora dla G1. Bez tego dwukierunkowy kalendarz (Push Schedule Up) nie domknie się — chunk 100B ginie.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423160"/>
            <a:ext cx="109728" cy="868680"/>
          </a:xfrm>
          <a:prstGeom prst="round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423160"/>
            <a:ext cx="1060704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>
                <a:solidFill>
                  <a:srgbClr val="FBBF24"/>
                </a:solidFill>
                <a:latin typeface="Consolas"/>
              </a:rPr>
              <a:t>2. z2m active availability (switche)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807208"/>
            <a:ext cx="1060704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737373"/>
                </a:solidFill>
                <a:latin typeface="Consolas"/>
              </a:rPr>
              <a:t>Na bramce w z2m configuration.yaml: 'availability:' + 'advanced.last_seen: ISO_8601' → restart z2m. Naprawia fałszywe offline switchy (nie raportują = wyglądają martwe).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383280"/>
            <a:ext cx="109728" cy="868680"/>
          </a:xfrm>
          <a:prstGeom prst="round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383280"/>
            <a:ext cx="1060704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>
                <a:solidFill>
                  <a:srgbClr val="FBBF24"/>
                </a:solidFill>
                <a:latin typeface="Consolas"/>
              </a:rPr>
              <a:t>3. Scrub sekretów przed commitem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767328"/>
            <a:ext cx="1060704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737373"/>
                </a:solidFill>
                <a:latin typeface="Consolas"/>
              </a:rPr>
              <a:t>config.py ma realne MQTT_PASS + tokeny. Uruchom scrub_secrets.py / _cfg_scrub.py LUB 'git rm --cached config.py' + dopisz do .gitignore, potem commit.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343400"/>
            <a:ext cx="109728" cy="868680"/>
          </a:xfrm>
          <a:prstGeom prst="roundRect">
            <a:avLst/>
          </a:prstGeom>
          <a:solidFill>
            <a:srgbClr val="5252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343400"/>
            <a:ext cx="1060704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>
                <a:solidFill>
                  <a:srgbClr val="E5E5E5"/>
                </a:solidFill>
                <a:latin typeface="Consolas"/>
              </a:rPr>
              <a:t>4. Decyzja: kroki 8 i 17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727448"/>
            <a:ext cx="1060704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737373"/>
                </a:solidFill>
                <a:latin typeface="Consolas"/>
              </a:rPr>
              <a:t>Czy budujemy pełne sterowanie (krok 8) i parametry bidirectional (krok 17) z planu 17-kroków? — nowa praca, nie bug.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5303520"/>
            <a:ext cx="109728" cy="868680"/>
          </a:xfrm>
          <a:prstGeom prst="roundRect">
            <a:avLst/>
          </a:prstGeom>
          <a:solidFill>
            <a:srgbClr val="5252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303520"/>
            <a:ext cx="1060704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>
                <a:solidFill>
                  <a:srgbClr val="E5E5E5"/>
                </a:solidFill>
                <a:latin typeface="Consolas"/>
              </a:rPr>
              <a:t>5. Restart Claude Code (opcjonalnie)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687568"/>
            <a:ext cx="1060704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737373"/>
                </a:solidFill>
                <a:latin typeface="Consolas"/>
              </a:rPr>
              <a:t>Załaduje tokeny MCP ha-gw/ha-sup (teraz pracuję przez REST/SSH — działa, ale MCP byłoby wygodniejsze).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40080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525252"/>
                </a:solidFill>
                <a:latin typeface="Consolas"/>
              </a:rPr>
              <a:t>LoRa Zigbee SCADA v38 — BMS rozproszony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525252"/>
                </a:solidFill>
                <a:latin typeface="Consola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411480"/>
            <a:ext cx="109728" cy="502920"/>
          </a:xfrm>
          <a:prstGeom prst="round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525252"/>
                </a:solidFill>
                <a:latin typeface="Consolas"/>
              </a:rPr>
              <a:t>WDROŻENIE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603504"/>
            <a:ext cx="1115568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600" b="1">
                <a:solidFill>
                  <a:srgbClr val="E5E5E5"/>
                </a:solidFill>
                <a:latin typeface="Consolas"/>
              </a:rPr>
              <a:t>Gotowość i procedura wdrożenia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63040"/>
            <a:ext cx="5212080" cy="457200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1F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47548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22D3EE"/>
                </a:solidFill>
                <a:latin typeface="Consolas"/>
              </a:rPr>
              <a:t>OCENA GOTOWOŚCI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4754880" cy="3840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0">
                <a:solidFill>
                  <a:srgbClr val="E5E5E5"/>
                </a:solidFill>
                <a:latin typeface="Consolas"/>
              </a:rPr>
              <a:t>Rdzeń (monitoring + anomalie + </a:t>
            </a:r>
            <a:r>
              <a:rPr sz="1200" b="1">
                <a:solidFill>
                  <a:srgbClr val="4ADE80"/>
                </a:solidFill>
                <a:latin typeface="Consolas"/>
              </a:rPr>
              <a:t>PUSH</a:t>
            </a:r>
            <a:r>
              <a:rPr sz="1200" b="0">
                <a:solidFill>
                  <a:srgbClr val="E5E5E5"/>
                </a:solidFill>
                <a:latin typeface="Consolas"/>
              </a:rPr>
              <a:t>)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4ADE80"/>
                </a:solidFill>
                <a:latin typeface="Consolas"/>
              </a:rPr>
              <a:t>   → GOTOWY do wdrożenia produkcyjnego.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600" b="0">
                <a:solidFill>
                  <a:srgbClr val="E5E5E5"/>
                </a:solidFill>
                <a:latin typeface="Consolas"/>
              </a:rPr>
              <a:t/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0">
                <a:solidFill>
                  <a:srgbClr val="E5E5E5"/>
                </a:solidFill>
                <a:latin typeface="Consolas"/>
              </a:rPr>
              <a:t>Dwukierunkowy kalendarz (PULL)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FBBF24"/>
                </a:solidFill>
                <a:latin typeface="Consolas"/>
              </a:rPr>
              <a:t>   → po poprawie RF (sprzęt).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600" b="0">
                <a:solidFill>
                  <a:srgbClr val="E5E5E5"/>
                </a:solidFill>
                <a:latin typeface="Consolas"/>
              </a:rPr>
              <a:t/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0">
                <a:solidFill>
                  <a:srgbClr val="E5E5E5"/>
                </a:solidFill>
                <a:latin typeface="Consolas"/>
              </a:rPr>
              <a:t>Pełna detekcja switchy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FBBF24"/>
                </a:solidFill>
                <a:latin typeface="Consolas"/>
              </a:rPr>
              <a:t>   → po z2m availability (faza 2).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600" b="0">
                <a:solidFill>
                  <a:srgbClr val="E5E5E5"/>
                </a:solidFill>
                <a:latin typeface="Consolas"/>
              </a:rPr>
              <a:t/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E5E5E5"/>
                </a:solidFill>
                <a:latin typeface="Consolas"/>
              </a:rPr>
              <a:t>Werdykt: rdzeń production-ready;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E5E5E5"/>
                </a:solidFill>
                <a:latin typeface="Consolas"/>
              </a:rPr>
              <a:t>2 pozycje sprzętowe do domknięcia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1">
                <a:solidFill>
                  <a:srgbClr val="E5E5E5"/>
                </a:solidFill>
                <a:latin typeface="Consolas"/>
              </a:rPr>
              <a:t>pełni dwukierunkowej.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60" y="1463040"/>
            <a:ext cx="5440680" cy="4572000"/>
          </a:xfrm>
          <a:prstGeom prst="roundRect">
            <a:avLst/>
          </a:prstGeom>
          <a:solidFill>
            <a:srgbClr val="141414"/>
          </a:solidFill>
          <a:ln w="12700">
            <a:solidFill>
              <a:srgbClr val="1F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600200"/>
            <a:ext cx="50292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22D3EE"/>
                </a:solidFill>
                <a:latin typeface="Consolas"/>
              </a:rPr>
              <a:t>PROCEDURA WDROŻENIA (per bramka)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057400"/>
            <a:ext cx="5029200" cy="3840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22D3EE"/>
                </a:solidFill>
                <a:latin typeface="Consolas"/>
              </a:rPr>
              <a:t>1. </a:t>
            </a:r>
            <a:r>
              <a:rPr sz="1100" b="0">
                <a:solidFill>
                  <a:srgbClr val="E5E5E5"/>
                </a:solidFill>
                <a:latin typeface="Consolas"/>
              </a:rPr>
              <a:t>Postaw Heltec V3 + ConBee/SONOFF + Z2M + HA lokalne.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22D3EE"/>
                </a:solidFill>
                <a:latin typeface="Consolas"/>
              </a:rPr>
              <a:t>2. </a:t>
            </a:r>
            <a:r>
              <a:rPr sz="1100" b="0">
                <a:solidFill>
                  <a:srgbClr val="E5E5E5"/>
                </a:solidFill>
                <a:latin typeface="Consolas"/>
              </a:rPr>
              <a:t>Ustaw .role (gateway/supervisor) w ~/meshtastic/.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22D3EE"/>
                </a:solidFill>
                <a:latin typeface="Consolas"/>
              </a:rPr>
              <a:t>3. </a:t>
            </a:r>
            <a:r>
              <a:rPr sz="1100" b="0">
                <a:solidFill>
                  <a:srgbClr val="E5E5E5"/>
                </a:solidFill>
                <a:latin typeface="Consolas"/>
              </a:rPr>
              <a:t>Wpisz sekrety in-place (MQTT_PASS + HA_TOKEN) — NIE scp configu.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22D3EE"/>
                </a:solidFill>
                <a:latin typeface="Consolas"/>
              </a:rPr>
              <a:t>4. </a:t>
            </a:r>
            <a:r>
              <a:rPr sz="1100" b="0">
                <a:solidFill>
                  <a:srgbClr val="E5E5E5"/>
                </a:solidFill>
                <a:latin typeface="Consolas"/>
              </a:rPr>
              <a:t>Skonfiguruj monitored[] / priority[] / T1-T3 / kalendarz.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22D3EE"/>
                </a:solidFill>
                <a:latin typeface="Consolas"/>
              </a:rPr>
              <a:t>5. </a:t>
            </a:r>
            <a:r>
              <a:rPr sz="1100" b="0">
                <a:solidFill>
                  <a:srgbClr val="E5E5E5"/>
                </a:solidFill>
                <a:latin typeface="Consolas"/>
              </a:rPr>
              <a:t>Start przez Launcher (:8765) → test_step5_anomaly.py.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22D3EE"/>
                </a:solidFill>
                <a:latin typeface="Consolas"/>
              </a:rPr>
              <a:t>6. </a:t>
            </a:r>
            <a:r>
              <a:rPr sz="1100" b="0">
                <a:solidFill>
                  <a:srgbClr val="E5E5E5"/>
                </a:solidFill>
                <a:latin typeface="Consolas"/>
              </a:rPr>
              <a:t>Wygeneruj dashboard: gen_gateway_dashboard.py + patche sup.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22D3EE"/>
                </a:solidFill>
                <a:latin typeface="Consolas"/>
              </a:rPr>
              <a:t>7. </a:t>
            </a:r>
            <a:r>
              <a:rPr sz="1100" b="0">
                <a:solidFill>
                  <a:srgbClr val="E5E5E5"/>
                </a:solidFill>
                <a:latin typeface="Consolas"/>
              </a:rPr>
              <a:t>Smoke: ping_all → HB → discovery → batch → anomalia testowa.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22D3EE"/>
                </a:solidFill>
                <a:latin typeface="Consolas"/>
              </a:rPr>
              <a:t>8. </a:t>
            </a:r>
            <a:r>
              <a:rPr sz="1100" b="0">
                <a:solidFill>
                  <a:srgbClr val="E5E5E5"/>
                </a:solidFill>
                <a:latin typeface="Consolas"/>
              </a:rPr>
              <a:t>Walidacja: offline-sync + PUSH kalendarza + sterowanie.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0080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525252"/>
                </a:solidFill>
                <a:latin typeface="Consolas"/>
              </a:rPr>
              <a:t>LoRa Zigbee SCADA v38 — BMS rozproszony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525252"/>
                </a:solidFill>
                <a:latin typeface="Consolas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