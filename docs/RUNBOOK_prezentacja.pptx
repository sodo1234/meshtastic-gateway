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46304" cy="201168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1005840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Consolas"/>
              </a:rPr>
              <a:t>LoRa ZIGBEE SCADA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514600"/>
            <a:ext cx="10515600" cy="1371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>
                <a:solidFill>
                  <a:srgbClr val="E5E5E5"/>
                </a:solidFill>
                <a:latin typeface="Consolas"/>
              </a:rPr>
              <a:t>Instrukcja obsługi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737373"/>
                </a:solidFill>
                <a:latin typeface="Consolas"/>
              </a:rPr>
              <a:t>Uruchamianie skryptów · obsługa dashboardu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480560"/>
            <a:ext cx="1005840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5E5E5"/>
                </a:solidFill>
                <a:latin typeface="Consolas"/>
              </a:rPr>
              <a:t>Runbook operacyjny — rozproszony BMS Zigbee → LoRa → Supervisor → Home Assistant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25252"/>
                </a:solidFill>
                <a:latin typeface="Consolas"/>
              </a:rPr>
              <a:t>Bramka = źródło prawdy · supervisor agreguje · każda bramka autonomiczna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612648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2026-07-21  ·  kod step-by-step (test_step5_anomaly.py + modules/*)  ·  NIE legacy v38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PRZEGLĄD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Zakres instrukcji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Instrukcja obsługi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486400" cy="42062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5029200" cy="45720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300" b="0">
                <a:solidFill>
                  <a:srgbClr val="E5E5E5"/>
                </a:solidFill>
                <a:latin typeface="Consolas"/>
              </a:rPr>
              <a:t>Architektura i maszyny (GW / SUP / hosty Tailscale)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300" b="0">
                <a:solidFill>
                  <a:srgbClr val="E5E5E5"/>
                </a:solidFill>
                <a:latin typeface="Consolas"/>
              </a:rPr>
              <a:t>Wymagania wstępne (SSH, venv, tokeny HA, MQTT)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300" b="0">
                <a:solidFill>
                  <a:srgbClr val="E5E5E5"/>
                </a:solidFill>
                <a:latin typeface="Consolas"/>
              </a:rPr>
              <a:t>Uruchamianie skryptów — Launcher :8765 + fallback SSH/tmux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300" b="0">
                <a:solidFill>
                  <a:srgbClr val="E5E5E5"/>
                </a:solidFill>
                <a:latin typeface="Consolas"/>
              </a:rPr>
              <a:t>Wdrożenie dashboardu (gen_unified_dashboard.py)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54480"/>
            <a:ext cx="5074920" cy="42062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663440" cy="45720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300" b="0">
                <a:solidFill>
                  <a:srgbClr val="E5E5E5"/>
                </a:solidFill>
                <a:latin typeface="Consolas"/>
              </a:rPr>
              <a:t>Obsługa dashboardu — 7 zakładek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300" b="0">
                <a:solidFill>
                  <a:srgbClr val="E5E5E5"/>
                </a:solidFill>
                <a:latin typeface="Consolas"/>
              </a:rPr>
              <a:t>Tryb bramki (sync z obu stron) + Parametry (Send)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300" b="0">
                <a:solidFill>
                  <a:srgbClr val="E5E5E5"/>
                </a:solidFill>
                <a:latin typeface="Consolas"/>
              </a:rPr>
              <a:t>Alarmy / anomalie / Clear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300" b="0">
                <a:solidFill>
                  <a:srgbClr val="E5E5E5"/>
                </a:solidFill>
                <a:latin typeface="Consolas"/>
              </a:rPr>
              <a:t>Health-check + Troubleshooting + pliki stanu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Architektura i maszyny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Instrukcja obsługi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10515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572768"/>
            <a:ext cx="35661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SUPERVISOR (G0)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65960"/>
            <a:ext cx="3566160" cy="594359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Xeon · HA Supervised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agregacja wszystkich bramek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78608"/>
            <a:ext cx="356616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▲  LoRa 868 MHz · 220B · 3s  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63240"/>
            <a:ext cx="3200400" cy="10515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72968"/>
            <a:ext cx="3200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4ADE80"/>
                </a:solidFill>
                <a:latin typeface="Consolas"/>
              </a:rPr>
              <a:t>BRAMKA G1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3200400" cy="594359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Z2M + HA lokalne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~100 dev · autonomiczna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063240"/>
            <a:ext cx="3200400" cy="10515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525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172968"/>
            <a:ext cx="3200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525252"/>
                </a:solidFill>
                <a:latin typeface="Consolas"/>
              </a:rPr>
              <a:t>BRAMKA G2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566160"/>
            <a:ext cx="3200400" cy="594359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testbed (dom)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Heltec V3 SX1262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063240"/>
            <a:ext cx="3200400" cy="10515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525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172968"/>
            <a:ext cx="3200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525252"/>
                </a:solidFill>
                <a:latin typeface="Consolas"/>
              </a:rPr>
              <a:t>BRAMKA G3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566160"/>
            <a:ext cx="3200400" cy="594359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Z2M + HA lokalne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~100 dev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4507992"/>
            <a:ext cx="10826496" cy="1737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Rola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617720"/>
            <a:ext cx="23774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Nazwa (launcher)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461772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IP Tailscale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61772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Uwaga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956048"/>
            <a:ext cx="10607040" cy="18288"/>
          </a:xfrm>
          <a:prstGeom prst="round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2920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Bramka produkcyjna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5029200"/>
            <a:ext cx="23774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carport-g1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502920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100.93.121.31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502920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FBBF24"/>
                </a:solidFill>
                <a:latin typeface="Consolas"/>
              </a:rPr>
              <a:t>REALNY 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394959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Bramka testbed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394959"/>
            <a:ext cx="23774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carport-g2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394959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100.98.155.78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5394959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ADE80"/>
                </a:solidFill>
                <a:latin typeface="Consolas"/>
              </a:rPr>
              <a:t>do testów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76072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Supervisor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760720"/>
            <a:ext cx="23774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supervisor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576072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100.79.111.24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5760720"/>
            <a:ext cx="2743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G0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URUCHAMIANIE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Skrypty przez Launcher (zalecane)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Instrukcja obsługi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486400" cy="4572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5029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WEB UI  ·  http://localhost:8765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5029200" cy="45720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200" b="1">
                <a:solidFill>
                  <a:srgbClr val="E5E5E5"/>
                </a:solidFill>
                <a:latin typeface="Consolas"/>
              </a:rPr>
              <a:t>1. Host</a:t>
            </a:r>
            <a:r>
              <a:rPr sz="1200" b="0">
                <a:solidFill>
                  <a:srgbClr val="737373"/>
                </a:solidFill>
                <a:latin typeface="Consolas"/>
              </a:rPr>
              <a:t>  carport-g2 / supervisor / …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200" b="1">
                <a:solidFill>
                  <a:srgbClr val="E5E5E5"/>
                </a:solidFill>
                <a:latin typeface="Consolas"/>
              </a:rPr>
              <a:t>2. Skrypt</a:t>
            </a:r>
            <a:r>
              <a:rPr sz="1200" b="0">
                <a:solidFill>
                  <a:srgbClr val="737373"/>
                </a:solidFill>
                <a:latin typeface="Consolas"/>
              </a:rPr>
              <a:t>  test_step5_anomaly.py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200" b="1">
                <a:solidFill>
                  <a:srgbClr val="E5E5E5"/>
                </a:solidFill>
                <a:latin typeface="Consolas"/>
              </a:rPr>
              <a:t>3. Start</a:t>
            </a:r>
            <a:r>
              <a:rPr sz="1200" b="0">
                <a:solidFill>
                  <a:srgbClr val="737373"/>
                </a:solidFill>
                <a:latin typeface="Consolas"/>
              </a:rPr>
              <a:t>  rola gw (bramka) / sup (supervisor)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200" b="1">
                <a:solidFill>
                  <a:srgbClr val="E5E5E5"/>
                </a:solidFill>
                <a:latin typeface="Consolas"/>
              </a:rPr>
              <a:t>4. tail</a:t>
            </a:r>
            <a:r>
              <a:rPr sz="1200" b="0">
                <a:solidFill>
                  <a:srgbClr val="737373"/>
                </a:solidFill>
                <a:latin typeface="Consolas"/>
              </a:rPr>
              <a:t>  podgląd logu na żywo (nowa karta)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5029200" cy="9144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737373"/>
                </a:solidFill>
                <a:latin typeface="Consolas"/>
              </a:rPr>
              <a:t>Launcher robi robust-kill + weryfikację —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737373"/>
                </a:solidFill>
                <a:latin typeface="Consolas"/>
              </a:rPr>
              <a:t>nie kłamie, że stopped, gdy proces żyje.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463040"/>
            <a:ext cx="5074920" cy="4572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46634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API (automatyzacja)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48840"/>
            <a:ext cx="4663440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4ADE80"/>
                </a:solidFill>
                <a:latin typeface="Consolas"/>
              </a:rPr>
              <a:t># start bramki G2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curl -X POST :8765/api/start \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  -d '{"host":"carport-g2",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       "role":"gw",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       "script":"test_step5_anomaly.py"}'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4ADE80"/>
                </a:solidFill>
                <a:latin typeface="Consolas"/>
              </a:rPr>
              <a:t># status operacji (async → poll)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curl :8765/api/op?host=carport-g2&amp;role=gw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  → {"busy":false,"ok":true,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     "result":"started ..."}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4ADE80"/>
                </a:solidFill>
                <a:latin typeface="Consolas"/>
              </a:rPr>
              <a:t># stop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curl -X POST :8765/api/stop -d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URUCHAMIANIE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Fallback — SSH + tmux (gdy launcher pada)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Instrukcja obsługi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10835640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424160" cy="2926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ssh td@100.98.155.78                 # carport-g2  (user td, klucz)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cd ~/meshtastic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tmux new -d -s gw 'venv/bin/python -u test_step5_anomaly.py 2&gt;&gt;/tmp/test_transport.stderr.log'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tmux has-session -t gw &amp;&amp; echo UP     # weryfikacja startu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tail -f /tmp/test_transport.log       # log runtime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4ADE80"/>
                </a:solidFill>
                <a:latin typeface="Consolas"/>
              </a:rPr>
              <a:t># STOP: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tmux kill-session -t gw ; pkill -f 'python -u test_step5_anomaly.py'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92040"/>
            <a:ext cx="10835640" cy="12801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Sesje tmux:  gw  (bramka)  ·  sup  (supervisor).   Log skryptów test_*: /tmp/test_transport.log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Deploy kodu: scp pliku do ~/meshtastic/… → ast-check → restart roli z launchera.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FBBF24"/>
                </a:solidFill>
                <a:latin typeface="Consolas"/>
              </a:rPr>
              <a:t>NIE deployować config.py z repo — remote ma prawdziwe tokeny/listy monitored/priority/porty.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Wdrożenie + 7 zakładek (lora-scada)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Instrukcja obsługi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10835640" cy="8686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424160" cy="7315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Wdrożenie (NA maszynie, osobno GW i SUP): </a:t>
            </a:r>
            <a:r>
              <a:rPr sz="1200" b="0">
                <a:solidFill>
                  <a:srgbClr val="E5E5E5"/>
                </a:solidFill>
                <a:latin typeface="Consolas"/>
              </a:rPr>
              <a:t>venv/bin/python homeassistant/gen_unified_dashboard.py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→ Lovelace url_path=lora-scada. Encje z MQTT Discovery (retained), dashboard tylko układa.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633472"/>
            <a:ext cx="10460736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6517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Zakładka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2743200"/>
            <a:ext cx="17373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743200"/>
            <a:ext cx="58521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Do czego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81528"/>
            <a:ext cx="10241280" cy="18288"/>
          </a:xfrm>
          <a:prstGeom prst="round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54679"/>
            <a:ext cx="26517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2D3EE"/>
                </a:solidFill>
                <a:latin typeface="Consolas"/>
              </a:rPr>
              <a:t>Bramka {GW}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3154679"/>
            <a:ext cx="17373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scada-gw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154679"/>
            <a:ext cx="58521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widok-wzorzec bramki (stan, urządzenia)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20439"/>
            <a:ext cx="26517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2D3EE"/>
                </a:solidFill>
                <a:latin typeface="Consolas"/>
              </a:rPr>
              <a:t>Sterowanie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39" y="3520439"/>
            <a:ext cx="17373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scada-ctl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520439"/>
            <a:ext cx="58521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switche / światła, przyciski sterujące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86200"/>
            <a:ext cx="26517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2D3EE"/>
                </a:solidFill>
                <a:latin typeface="Consolas"/>
              </a:rPr>
              <a:t>Pomiary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3886200"/>
            <a:ext cx="17373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scada-meas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86200"/>
            <a:ext cx="58521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kafle temp / wilgotność / bateria + wykresy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251959"/>
            <a:ext cx="26517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2D3EE"/>
                </a:solidFill>
                <a:latin typeface="Consolas"/>
              </a:rPr>
              <a:t>Alarmy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4251959"/>
            <a:ext cx="17373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scada-alarm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251959"/>
            <a:ext cx="58521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lista anomalii + Clear (offline / bateria / inne)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617720"/>
            <a:ext cx="26517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2D3EE"/>
                </a:solidFill>
                <a:latin typeface="Consolas"/>
              </a:rPr>
              <a:t>Harmonogram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39" y="4617720"/>
            <a:ext cx="17373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scada-cal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617720"/>
            <a:ext cx="58521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kalendarz produkcji + tryb bramki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983480"/>
            <a:ext cx="26517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2D3EE"/>
                </a:solidFill>
                <a:latin typeface="Consolas"/>
              </a:rPr>
              <a:t>Parametry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39" y="4983480"/>
            <a:ext cx="17373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scada-param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983480"/>
            <a:ext cx="58521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P / T / Progi + przyciski Send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349240"/>
            <a:ext cx="26517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2D3EE"/>
                </a:solidFill>
                <a:latin typeface="Consolas"/>
              </a:rPr>
              <a:t>Diagnostyka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39" y="5349240"/>
            <a:ext cx="17373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scada-diag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5349240"/>
            <a:ext cx="58521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HB, czas, hashe zgodności, link supervisora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DASHBOARD · POMIARY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Kafle temp / wilgotność / leak /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Instrukcja obsługi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486400" cy="4572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5029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ODŚWIEŻANIE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5029200" cy="45720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1">
                <a:solidFill>
                  <a:srgbClr val="22D3EE"/>
                </a:solidFill>
                <a:latin typeface="Consolas"/>
              </a:rPr>
              <a:t>▸  </a:t>
            </a:r>
            <a:r>
              <a:rPr sz="1150" b="0">
                <a:solidFill>
                  <a:srgbClr val="E5E5E5"/>
                </a:solidFill>
                <a:latin typeface="Consolas"/>
              </a:rPr>
              <a:t>Cykliczny raport co P3 min (domyśl. 15) — NIEZALEŻNIE od progów anomalii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1">
                <a:solidFill>
                  <a:srgbClr val="22D3EE"/>
                </a:solidFill>
                <a:latin typeface="Consolas"/>
              </a:rPr>
              <a:t>▸  </a:t>
            </a:r>
            <a:r>
              <a:rPr sz="1150" b="0">
                <a:solidFill>
                  <a:srgbClr val="E5E5E5"/>
                </a:solidFill>
                <a:latin typeface="Consolas"/>
              </a:rPr>
              <a:t>Dodatkowo zdarzeniowo przy zmianie ≥0,5°C / ≥2%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1">
                <a:solidFill>
                  <a:srgbClr val="22D3EE"/>
                </a:solidFill>
                <a:latin typeface="Consolas"/>
              </a:rPr>
              <a:t>▸  </a:t>
            </a:r>
            <a:r>
              <a:rPr sz="1150" b="0">
                <a:solidFill>
                  <a:srgbClr val="E5E5E5"/>
                </a:solidFill>
                <a:latin typeface="Consolas"/>
              </a:rPr>
              <a:t>Kafle mają force_update → nie zamarzają przy stałej wartości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1">
                <a:solidFill>
                  <a:srgbClr val="22D3EE"/>
                </a:solidFill>
                <a:latin typeface="Consolas"/>
              </a:rPr>
              <a:t>▸  </a:t>
            </a:r>
            <a:r>
              <a:rPr sz="1150" b="1">
                <a:solidFill>
                  <a:srgbClr val="E5E5E5"/>
                </a:solidFill>
                <a:latin typeface="Consolas"/>
              </a:rPr>
              <a:t>last_seen</a:t>
            </a:r>
            <a:r>
              <a:rPr sz="1150" b="0">
                <a:solidFill>
                  <a:srgbClr val="737373"/>
                </a:solidFill>
                <a:latin typeface="Consolas"/>
              </a:rPr>
              <a:t>  = ostatni realny raport (uczciwy wskaźnik świeżości)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1">
                <a:solidFill>
                  <a:srgbClr val="22D3EE"/>
                </a:solidFill>
                <a:latin typeface="Consolas"/>
              </a:rPr>
              <a:t>▸  </a:t>
            </a:r>
            <a:r>
              <a:rPr sz="1150" b="1">
                <a:solidFill>
                  <a:srgbClr val="E5E5E5"/>
                </a:solidFill>
                <a:latin typeface="Consolas"/>
              </a:rPr>
              <a:t>Refresh</a:t>
            </a:r>
            <a:r>
              <a:rPr sz="1150" b="0">
                <a:solidFill>
                  <a:srgbClr val="737373"/>
                </a:solidFill>
                <a:latin typeface="Consolas"/>
              </a:rPr>
              <a:t>  przycisk per-urządzenie → natychmiastowa wartość (LoRa)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63040"/>
            <a:ext cx="5074920" cy="4572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00200"/>
            <a:ext cx="46634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4ADE80"/>
                </a:solidFill>
                <a:latin typeface="Consolas"/>
              </a:rPr>
              <a:t>ENCJE (przykład G2)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48840"/>
            <a:ext cx="4663440" cy="3657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sensor.lora_g2_temp_1_temperature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sensor.lora_g2_temp_1_humidity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sensor.lora_g2_temp_1_battery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binary_sensor..leak_1_water_leak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binary_sensor..door_1_contact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sensor.lora_g2_&lt;dev&gt;_last_seen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binary_sensor..&lt;dev&gt;_available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button.lora_g2_&lt;dev&gt;_refresh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DASHBOARD · HARMONOGRAM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Tryb bramki — sterowany z OBU stron, synchronizowany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Instrukcja obsługi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444752"/>
            <a:ext cx="10552176" cy="23317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237744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Etykieta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554480"/>
            <a:ext cx="182880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Tryb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554480"/>
            <a:ext cx="612648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Znaczenie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1938528"/>
            <a:ext cx="10332720" cy="18288"/>
          </a:xfrm>
          <a:prstGeom prst="round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011679"/>
            <a:ext cx="237744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4ADE80"/>
                </a:solidFill>
                <a:latin typeface="Consolas"/>
              </a:rPr>
              <a:t>Całodobowa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011679"/>
            <a:ext cx="182880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all-time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011679"/>
            <a:ext cx="612648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zawsze aktywna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23160"/>
            <a:ext cx="237744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2D3EE"/>
                </a:solidFill>
                <a:latin typeface="Consolas"/>
              </a:rPr>
              <a:t>Dzienna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423160"/>
            <a:ext cx="182880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423160"/>
            <a:ext cx="612648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aktywna w dzień (świt–zmierzch solarnie)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834639"/>
            <a:ext cx="237744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2D3EE"/>
                </a:solidFill>
                <a:latin typeface="Consolas"/>
              </a:rPr>
              <a:t>Nocna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834639"/>
            <a:ext cx="182880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night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834639"/>
            <a:ext cx="612648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aktywna w nocy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46120"/>
            <a:ext cx="237744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2D3EE"/>
                </a:solidFill>
                <a:latin typeface="Consolas"/>
              </a:rPr>
              <a:t>Kalendarz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246120"/>
            <a:ext cx="182880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calendar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246120"/>
            <a:ext cx="6126480" cy="411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aktywność wg harmonogramu produkcji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23360"/>
            <a:ext cx="10835640" cy="20116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06240"/>
            <a:ext cx="10332720" cy="45720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200" b="0">
                <a:solidFill>
                  <a:srgbClr val="E5E5E5"/>
                </a:solidFill>
                <a:latin typeface="Consolas"/>
              </a:rPr>
              <a:t>Zmiana działa i na bramce, i na supervisorze — round-trip przez LoRa (set_mode) + potwierdzenie w HB (gm). Oba selecty odbijają realny tryb.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200" b="0">
                <a:solidFill>
                  <a:srgbClr val="E5E5E5"/>
                </a:solidFill>
                <a:latin typeface="Consolas"/>
              </a:rPr>
              <a:t>Monitorowane + priority (temp / hum / leak / door) raportują ZAWSZE, także gdy bramka nieaktywna.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200" b="0">
                <a:solidFill>
                  <a:srgbClr val="E5E5E5"/>
                </a:solidFill>
                <a:latin typeface="Consolas"/>
              </a:rPr>
              <a:t>Tłumione są tylko urządzenia oświetleniowe (non-monitored) — by nie zgłaszać fałszywego offline.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DASHBOARD · PARAMETRY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Edytuj pole → naciśnij Wyślij (bramka = master)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Instrukcja obsługi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99031"/>
            <a:ext cx="6071616" cy="4613148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Klucz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08760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Nazwa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Domyśl.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508760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Jedn.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15083"/>
            <a:ext cx="5852159" cy="18288"/>
          </a:xfrm>
          <a:prstGeom prst="round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88235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888235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Stagnation bateryjne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88235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888235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221991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221991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Stagnation sieciowe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21991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221991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555748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555748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Raportowanie temp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555748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555748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889503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P4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2889503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Ping sup interwał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889503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889503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223259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T1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223259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Offline switch/light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223259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223259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557015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T2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557015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Offline temp/hum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557015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557015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890772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T3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3890772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Offline door/leak/motion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890772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120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890772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224528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T4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4224528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Ping sup timeout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224528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4224528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558284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TH/TL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4558284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Próg temp. wys./nis.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4558284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35/10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4558284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°C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92040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HH/HL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4480" y="4892040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Próg wilg. wys./nis.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4892040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70/20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4892040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225795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BL/BC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54480" y="5225795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Próg bat. nis./kryt.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5225795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25/15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0" y="5225795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559551"/>
            <a:ext cx="91440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PR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54480" y="5559551"/>
            <a:ext cx="301752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Ping sup retry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5559551"/>
            <a:ext cx="109728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0" y="5559551"/>
            <a:ext cx="822960" cy="3337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x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720840" y="1508760"/>
            <a:ext cx="4800600" cy="21945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0" y="1645920"/>
            <a:ext cx="438912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GRUPY WYSYŁKI (przyciski Send)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9440" y="2148840"/>
            <a:ext cx="4389120" cy="45720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200" b="1">
                <a:solidFill>
                  <a:srgbClr val="E5E5E5"/>
                </a:solidFill>
                <a:latin typeface="Consolas"/>
              </a:rPr>
              <a:t>Wyślij Config</a:t>
            </a:r>
            <a:r>
              <a:rPr sz="1200" b="0">
                <a:solidFill>
                  <a:srgbClr val="737373"/>
                </a:solidFill>
                <a:latin typeface="Consolas"/>
              </a:rPr>
              <a:t>  P1 P2 P3 P4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200" b="1">
                <a:solidFill>
                  <a:srgbClr val="E5E5E5"/>
                </a:solidFill>
                <a:latin typeface="Consolas"/>
              </a:rPr>
              <a:t>Wyślij Timeout</a:t>
            </a:r>
            <a:r>
              <a:rPr sz="1200" b="0">
                <a:solidFill>
                  <a:srgbClr val="737373"/>
                </a:solidFill>
                <a:latin typeface="Consolas"/>
              </a:rPr>
              <a:t>  T1 T2 T3 T4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▸  </a:t>
            </a:r>
            <a:r>
              <a:rPr sz="1200" b="1">
                <a:solidFill>
                  <a:srgbClr val="E5E5E5"/>
                </a:solidFill>
                <a:latin typeface="Consolas"/>
              </a:rPr>
              <a:t>Wyślij Progi</a:t>
            </a:r>
            <a:r>
              <a:rPr sz="1200" b="0">
                <a:solidFill>
                  <a:srgbClr val="737373"/>
                </a:solidFill>
                <a:latin typeface="Consolas"/>
              </a:rPr>
              <a:t>  TH TL HH HL BL BC PR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720840" y="3886200"/>
            <a:ext cx="4800600" cy="21488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A3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9440" y="4023360"/>
            <a:ext cx="4389120" cy="19202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AUTO-HEAL parametrów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Rozjazd mirror↔master (zgubiony pakiet)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leczy się sam — supervisor dociąga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E5E5E5"/>
                </a:solidFill>
                <a:latin typeface="Consolas"/>
              </a:rPr>
              <a:t>wartości od bramki. Chyba że masz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FBBF24"/>
                </a:solidFill>
                <a:latin typeface="Consolas"/>
              </a:rPr>
              <a:t>niewysłaną lokalną edycję → naciśnij Send.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EKSPLOATACJA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Troubleshooting (najczęstsze objawy)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Instrukcja obsługi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53312"/>
            <a:ext cx="11100816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329184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Objaw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463040"/>
            <a:ext cx="384048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Przyczyna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63040"/>
            <a:ext cx="3749039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Działanie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84248"/>
            <a:ext cx="10881360" cy="18288"/>
          </a:xfrm>
          <a:prstGeom prst="round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329184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FBBF24"/>
                </a:solidFill>
                <a:latin typeface="Consolas"/>
              </a:rPr>
              <a:t>Kafle temp/leak/door zamrożone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057400"/>
            <a:ext cx="384048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bramka nieaktywna (ga=0) lub proces stanął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57400"/>
            <a:ext cx="3749039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sprawdź HB gm/ga; tryb Całodobowa / proces żyje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06039"/>
            <a:ext cx="329184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Świeży czas, stara wartość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606039"/>
            <a:ext cx="384048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pakiet b zgubiony na LoRa (avail-blob podtrzymuje)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39"/>
            <a:ext cx="3749039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poczekaj cykl / Refresh; last_seen mówi prawdę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54679"/>
            <a:ext cx="329184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Encja zamrożona mimo świeżego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154679"/>
            <a:ext cx="384048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brak force_update / stale-registry 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154679"/>
            <a:ext cx="3749039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re-gen dashboard / republish config; ost. restart HA MQTT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03320"/>
            <a:ext cx="329184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Urządzenie offline mimo że żyje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703320"/>
            <a:ext cx="384048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timeout T1/T2/T3 za krótki dla bateryjnego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703320"/>
            <a:ext cx="3749039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podnieś T2/T3 (Parametry → Wyślij Timeout)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51959"/>
            <a:ext cx="329184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FBBF24"/>
                </a:solidFill>
                <a:latin typeface="Consolas"/>
              </a:rPr>
              <a:t>ROZJAZD parametrów utrzymuje się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251959"/>
            <a:ext cx="384048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zgubiony param_upd / niewysłana edycja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251959"/>
            <a:ext cx="3749039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naciśnij Send (master) — auto-heal ruszy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00599"/>
            <a:ext cx="329184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F87171"/>
                </a:solidFill>
                <a:latin typeface="Consolas"/>
              </a:rPr>
              <a:t>MCP ha-gw/ha-sup = 401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800599"/>
            <a:ext cx="384048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token wygasł / zrewokowany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800599"/>
            <a:ext cx="3749039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aktualizuj HA_TOKEN (config.py + .claude.json) + restart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49240"/>
            <a:ext cx="329184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Launcher: endpointy timeoutują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349240"/>
            <a:ext cx="384048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za dużo osieroconych sesji SSH (Windows)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349240"/>
            <a:ext cx="3749039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sprawdź liczbę ssh; zamknij karty tail; restart launchera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EKSPLOATACJA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Health-check + pliki stanu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Instrukcja obsługi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486400" cy="4572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5029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SZYBKIE KOMENDY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5029200" cy="3749039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4ADE80"/>
                </a:solidFill>
                <a:latin typeface="Consolas"/>
              </a:rPr>
              <a:t># proces żyje?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pgrep -af 'python -u test_step5_anomaly.py'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4ADE80"/>
                </a:solidFill>
                <a:latin typeface="Consolas"/>
              </a:rPr>
              <a:t># ostatni HB (tryb gm, aktywność ga):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grep '"t":"hb"' /tmp/test_transport.log | tail -1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4ADE80"/>
                </a:solidFill>
                <a:latin typeface="Consolas"/>
              </a:rPr>
              <a:t># HA API odpowiada?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curl -H 'Authorization: Bearer $TOKEN' \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E5E5E5"/>
                </a:solidFill>
                <a:latin typeface="Consolas"/>
              </a:rPr>
              <a:t>     localhost:8123/api/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63040"/>
            <a:ext cx="5074920" cy="4572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00200"/>
            <a:ext cx="46634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4ADE80"/>
                </a:solidFill>
                <a:latin typeface="Consolas"/>
              </a:rPr>
              <a:t>PLIKI STANU (na maszynie)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48840"/>
            <a:ext cx="4663440" cy="3749039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050" b="0">
                <a:solidFill>
                  <a:srgbClr val="22D3EE"/>
                </a:solidFill>
                <a:latin typeface="Consolas"/>
              </a:rPr>
              <a:t>/tmp/lora_params.json</a:t>
            </a:r>
            <a:r>
              <a:rPr sz="1050" b="0">
                <a:solidFill>
                  <a:srgbClr val="E5E5E5"/>
                </a:solidFill>
                <a:latin typeface="Consolas"/>
              </a:rPr>
              <a:t>  parametry (master)</a:t>
            </a:r>
          </a:p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050" b="0">
                <a:solidFill>
                  <a:srgbClr val="22D3EE"/>
                </a:solidFill>
                <a:latin typeface="Consolas"/>
              </a:rPr>
              <a:t>/tmp/lora_params_sup_&lt;gw&gt;.json</a:t>
            </a:r>
            <a:r>
              <a:rPr sz="1050" b="0">
                <a:solidFill>
                  <a:srgbClr val="E5E5E5"/>
                </a:solidFill>
                <a:latin typeface="Consolas"/>
              </a:rPr>
              <a:t>  mirror params</a:t>
            </a:r>
          </a:p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050" b="0">
                <a:solidFill>
                  <a:srgbClr val="22D3EE"/>
                </a:solidFill>
                <a:latin typeface="Consolas"/>
              </a:rPr>
              <a:t>/tmp/lora_mode_gw.json</a:t>
            </a:r>
            <a:r>
              <a:rPr sz="1050" b="0">
                <a:solidFill>
                  <a:srgbClr val="E5E5E5"/>
                </a:solidFill>
                <a:latin typeface="Consolas"/>
              </a:rPr>
              <a:t>  tryb bramki (ponad config)</a:t>
            </a:r>
          </a:p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050" b="0">
                <a:solidFill>
                  <a:srgbClr val="22D3EE"/>
                </a:solidFill>
                <a:latin typeface="Consolas"/>
              </a:rPr>
              <a:t>/tmp/lora_sid_map_&lt;gw&gt;.json</a:t>
            </a:r>
            <a:r>
              <a:rPr sz="1050" b="0">
                <a:solidFill>
                  <a:srgbClr val="E5E5E5"/>
                </a:solidFill>
                <a:latin typeface="Consolas"/>
              </a:rPr>
              <a:t>  stabilne sidy</a:t>
            </a:r>
          </a:p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050" b="0">
                <a:solidFill>
                  <a:srgbClr val="22D3EE"/>
                </a:solidFill>
                <a:latin typeface="Consolas"/>
              </a:rPr>
              <a:t>/tmp/lora_anomaly_ids.json</a:t>
            </a:r>
            <a:r>
              <a:rPr sz="1050" b="0">
                <a:solidFill>
                  <a:srgbClr val="E5E5E5"/>
                </a:solidFill>
                <a:latin typeface="Consolas"/>
              </a:rPr>
              <a:t>  aktywne anomalie</a:t>
            </a:r>
          </a:p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050" b="0">
                <a:solidFill>
                  <a:srgbClr val="22D3EE"/>
                </a:solidFill>
                <a:latin typeface="Consolas"/>
              </a:rPr>
              <a:t>/tmp/lora_schedule_gw.json</a:t>
            </a:r>
            <a:r>
              <a:rPr sz="1050" b="0">
                <a:solidFill>
                  <a:srgbClr val="E5E5E5"/>
                </a:solidFill>
                <a:latin typeface="Consolas"/>
              </a:rPr>
              <a:t>  harmonogram</a:t>
            </a:r>
          </a:p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050" b="0">
                <a:solidFill>
                  <a:srgbClr val="22D3EE"/>
                </a:solidFill>
                <a:latin typeface="Consolas"/>
              </a:rPr>
              <a:t>/tmp/test_transport.log</a:t>
            </a:r>
            <a:r>
              <a:rPr sz="1050" b="0">
                <a:solidFill>
                  <a:srgbClr val="E5E5E5"/>
                </a:solidFill>
                <a:latin typeface="Consolas"/>
              </a:rPr>
              <a:t>  log runtime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Zasady bezpieczeństwa operacyjnego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— Instrukcja obsługi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10835640" cy="4023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3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10332720" cy="45720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3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300" b="1">
                <a:solidFill>
                  <a:srgbClr val="E5E5E5"/>
                </a:solidFill>
                <a:latin typeface="Consolas"/>
              </a:rPr>
              <a:t>Bramka = źródło prawdy.</a:t>
            </a:r>
            <a:r>
              <a:rPr sz="1300" b="0">
                <a:solidFill>
                  <a:srgbClr val="737373"/>
                </a:solidFill>
                <a:latin typeface="Consolas"/>
              </a:rPr>
              <a:t>  Dashboard supervisora = odwzorowanie bramki (podmiana encji).</a:t>
            </a:r>
          </a:p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3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300" b="1">
                <a:solidFill>
                  <a:srgbClr val="E5E5E5"/>
                </a:solidFill>
                <a:latin typeface="Consolas"/>
              </a:rPr>
              <a:t>Testuj na G2 (testbed),</a:t>
            </a:r>
            <a:r>
              <a:rPr sz="1300" b="0">
                <a:solidFill>
                  <a:srgbClr val="737373"/>
                </a:solidFill>
                <a:latin typeface="Consolas"/>
              </a:rPr>
              <a:t>  nie na produkcyjnym G1, dopóki nie potwierdzone live.</a:t>
            </a:r>
          </a:p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3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300" b="1">
                <a:solidFill>
                  <a:srgbClr val="E5E5E5"/>
                </a:solidFill>
                <a:latin typeface="Consolas"/>
              </a:rPr>
              <a:t>Restart supervisora bezpieczny</a:t>
            </a:r>
            <a:r>
              <a:rPr sz="1300" b="0">
                <a:solidFill>
                  <a:srgbClr val="737373"/>
                </a:solidFill>
                <a:latin typeface="Consolas"/>
              </a:rPr>
              <a:t>  (bramki autonomiczne); restart bramki = krótka utrata monitoringu tej lokalizacji.</a:t>
            </a:r>
          </a:p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3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300" b="1">
                <a:solidFill>
                  <a:srgbClr val="E5E5E5"/>
                </a:solidFill>
                <a:latin typeface="Consolas"/>
              </a:rPr>
              <a:t>Nie zmieniać stylu/mechanik</a:t>
            </a:r>
            <a:r>
              <a:rPr sz="1300" b="0">
                <a:solidFill>
                  <a:srgbClr val="737373"/>
                </a:solidFill>
                <a:latin typeface="Consolas"/>
              </a:rPr>
              <a:t>  dashboardu ad-hoc — trzymać się wzorca.</a:t>
            </a:r>
          </a:p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3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300" b="1">
                <a:solidFill>
                  <a:srgbClr val="E5E5E5"/>
                </a:solidFill>
                <a:latin typeface="Consolas"/>
              </a:rPr>
              <a:t>Zmiana tokenu HA</a:t>
            </a:r>
            <a:r>
              <a:rPr sz="1300" b="0">
                <a:solidFill>
                  <a:srgbClr val="737373"/>
                </a:solidFill>
                <a:latin typeface="Consolas"/>
              </a:rPr>
              <a:t>  = config.py (obie maszyny) + .claude.json + restart roli + restart Claude Code (MCP).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