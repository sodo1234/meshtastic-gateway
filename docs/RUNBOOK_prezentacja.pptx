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8" r:id="rId19"/>
    <p:sldId id="261" r:id="rId12"/>
    <p:sldId id="262" r:id="rId13"/>
    <p:sldId id="263" r:id="rId14"/>
    <p:sldId id="264" r:id="rId15"/>
    <p:sldId id="269" r:id="rId20"/>
    <p:sldId id="265" r:id="rId16"/>
    <p:sldId id="266" r:id="rId17"/>
    <p:sldId id="270" r:id="rId21"/>
    <p:sldId id="271" r:id="rId22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6.xml"/><Relationship Id="rId19" Type="http://schemas.openxmlformats.org/officeDocument/2006/relationships/slide" Target="slides/slide6.xml"/><Relationship Id="rId20" Type="http://schemas.openxmlformats.org/officeDocument/2006/relationships/slide" Target="slides/slide11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146304" cy="201168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011680"/>
            <a:ext cx="1005840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22D3EE"/>
                </a:solidFill>
                <a:latin typeface="Consolas"/>
              </a:rPr>
              <a:t>LoRa ZIGBEE SCADA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2514600"/>
            <a:ext cx="10515600" cy="1371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>
                <a:solidFill>
                  <a:srgbClr val="E5E5E5"/>
                </a:solidFill>
                <a:latin typeface="Consolas"/>
              </a:rPr>
              <a:t>Instrukcja obsługi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0">
                <a:solidFill>
                  <a:srgbClr val="737373"/>
                </a:solidFill>
                <a:latin typeface="Consolas"/>
              </a:rPr>
              <a:t>Uruchamianie skryptów · obsługa dashboardu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480560"/>
            <a:ext cx="100584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E5E5E5"/>
                </a:solidFill>
                <a:latin typeface="Consolas"/>
              </a:rPr>
              <a:t>Runbook operacyjny — rozproszony BMS Zigbee → LoRa → Supervisor → Home Assistant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525252"/>
                </a:solidFill>
                <a:latin typeface="Consolas"/>
              </a:rPr>
              <a:t>Bramka = źródło prawdy · supervisor agreguje · każda bramka autonomiczna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6126480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2026-10-15  ·  v12.11 (wersja końcowa)  ·  Meshtastic_SCADA.py + modules/*  ·  stare monolity = martwe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PRZEGLĄD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Zakres instrukcji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5486400" cy="42062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502920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Architektura i maszyny (G1 offline-first / G2 testbed / SUP)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Wymagania wstępne (SSH, venv, tokeny HA, MQTT)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Uruchamianie — Launcher 127.0.0.1:8765 + fallback SSH/tmux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Wgrywanie kodu — deploy/deploy_g1.sh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Dashboard lora-scada (ZAKAZ generatorów)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554480"/>
            <a:ext cx="5074920" cy="42062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66344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Obsługa dashboardu — 7 zakładek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Tryb bramki + Parametry (Send)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Synchronizacja i 5 flag zgodności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Alarmy / anomalie / Clear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Troubleshooting + health-check + pliki stanu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300" b="0">
                <a:solidFill>
                  <a:srgbClr val="E5E5E5"/>
                </a:solidFill>
                <a:latin typeface="Consolas"/>
              </a:rPr>
              <a:t>Narzędzia, ograniczenia, powiadomienia Telegram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Architektura i maszyny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10515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572768"/>
            <a:ext cx="3566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22D3EE"/>
                </a:solidFill>
                <a:latin typeface="Consolas"/>
              </a:rPr>
              <a:t>SUPERVISOR (G0)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965960"/>
            <a:ext cx="3566160" cy="59435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Xeon · HA Supervised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agregacja wszystkich bramek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578608"/>
            <a:ext cx="35661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BBF24"/>
                </a:solidFill>
                <a:latin typeface="Consolas"/>
              </a:rPr>
              <a:t>▲  LoRa 868 MHz · 220B · 3s  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063240"/>
            <a:ext cx="3200400" cy="10515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72968"/>
            <a:ext cx="3200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4ADE80"/>
                </a:solidFill>
                <a:latin typeface="Consolas"/>
              </a:rPr>
              <a:t>BRAMKA G1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3200400" cy="59435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carport · offline-first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~100 dev · autonomiczna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3063240"/>
            <a:ext cx="3200400" cy="10515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3172968"/>
            <a:ext cx="3200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525252"/>
                </a:solidFill>
                <a:latin typeface="Consolas"/>
              </a:rPr>
              <a:t>BRAMKA 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566160"/>
            <a:ext cx="3200400" cy="59435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testbed (dom)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Heltec V3 SX1262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063240"/>
            <a:ext cx="3200400" cy="10515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52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3172968"/>
            <a:ext cx="3200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525252"/>
                </a:solidFill>
                <a:latin typeface="Consolas"/>
              </a:rPr>
              <a:t>BRAMKA G3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66160"/>
            <a:ext cx="3200400" cy="59435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Z2M + HA lokalne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~100 dev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507992"/>
            <a:ext cx="10826496" cy="17373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Rola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617720"/>
            <a:ext cx="2377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Nazwa (launcher)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461772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IP Tailscale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461772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Uwaga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4956048"/>
            <a:ext cx="10607040" cy="18288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02920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Bramka produkcyjna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5029200"/>
            <a:ext cx="2377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carport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502920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100.68.79.100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502920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Consolas"/>
              </a:rPr>
              <a:t>REALNY · v12.10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394959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Bramka testbed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394959"/>
            <a:ext cx="2377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carport-g2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5394959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100.98.155.78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5394959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4ADE80"/>
                </a:solidFill>
                <a:latin typeface="Consolas"/>
              </a:rPr>
              <a:t>testy · v12.11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76072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Supervisor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760720"/>
            <a:ext cx="2377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supervisor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576072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100.79.111.24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5760720"/>
            <a:ext cx="2743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G0 · v12.11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URUCHAMIANIE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Skrypty przez Launcher (zalecane)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548640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5029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WEB UI  ·  http://127.0.0.1:8765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502920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1. Host</a:t>
            </a:r>
            <a:r>
              <a:rPr sz="1200" b="0">
                <a:solidFill>
                  <a:srgbClr val="737373"/>
                </a:solidFill>
                <a:latin typeface="Consolas"/>
              </a:rPr>
              <a:t>  carport-g2 / supervisor / …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2. Skrypt</a:t>
            </a:r>
            <a:r>
              <a:rPr sz="1200" b="0">
                <a:solidFill>
                  <a:srgbClr val="737373"/>
                </a:solidFill>
                <a:latin typeface="Consolas"/>
              </a:rPr>
              <a:t>  Meshtastic_SCADA.py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3. Start</a:t>
            </a:r>
            <a:r>
              <a:rPr sz="1200" b="0">
                <a:solidFill>
                  <a:srgbClr val="737373"/>
                </a:solidFill>
                <a:latin typeface="Consolas"/>
              </a:rPr>
              <a:t>  rola gw (bramka) / sup (supervisor)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4. tail</a:t>
            </a:r>
            <a:r>
              <a:rPr sz="1200" b="0">
                <a:solidFill>
                  <a:srgbClr val="737373"/>
                </a:solidFill>
                <a:latin typeface="Consolas"/>
              </a:rPr>
              <a:t>  podgląd logu na żywo (nowa karta)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502920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Nie wstaje sam po restarcie PC — start ręcznie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z repo: python launcher/app.py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Robi robust-kill + weryfikację — nie kłamie,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że stopped, gdy proces żyje.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63040"/>
            <a:ext cx="507492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600200"/>
            <a:ext cx="4663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API (automatyzacja)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48840"/>
            <a:ext cx="4663440" cy="3840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start bramki G2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curl -X POST :8765/api/start \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 -d '{"host":"carport-g2",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      "role":"gw",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      "script":"Meshtastic_SCADA.py"}'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status operacji (async → poll)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curl :8765/api/op?host=carport-g2&amp;role=gw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 → {"busy":false,"ok":true,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    "result":"started ..."}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stop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curl -X POST :8765/api/stop -d 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URUCHAMIANIE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Fallback — SSH + tmux (gdy launcher pada)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10835640" cy="32004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424160" cy="2926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ssh td@100.98.155.78                 # carport-g2  (user td, klucz)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cd ~/meshtastic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tmux new -d -s gw 'venv/bin/python -u Meshtastic_SCADA.py 2&gt;&gt;/tmp/test_transport.stderr.log'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tmux has-session -t gw &amp;&amp; echo UP     # weryfikacja startu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tail -f /tmp/test_transport.log       # log runtime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4ADE80"/>
                </a:solidFill>
                <a:latin typeface="Consolas"/>
              </a:rPr>
              <a:t># STOP: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tmux kill-session -t gw ; pkill -f 'python -u Meshtastic_SCADA.py'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10835640" cy="12801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Sesje tmux:  gw  (bramka)  ·  sup  (supervisor).   Log runtime: /tmp/test_transport.log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Wgrywanie kodu: bash deploy/deploy_g1.sh &lt;IP&gt; &lt;gw|sup&gt; (następny slajd) → restart roli z launchera.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onsolas"/>
              </a:rPr>
              <a:t>NIE deployować config.py z repo — remote ma prawdziwe tokeny/listy monitored/priority/porty.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WDROŻENIE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Wgrywanie kodu — deploy_g1.sh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10835640" cy="32004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10424160" cy="2926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4ADE80"/>
                </a:solidFill>
                <a:latin typeface="Consolas"/>
              </a:rPr>
              <a:t># standardowa droga wgrywania (z repo, na PC)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bash deploy/deploy_g1.sh 100.68.79.100 gw    # G1 carport (domyślny host)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bash deploy/deploy_g1.sh 100.98.155.78 gw    # G2 testbed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bash deploy/deploy_g1.sh 100.79.111.24 sup   # supervisor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4ADE80"/>
                </a:solidFill>
                <a:latin typeface="Consolas"/>
              </a:rPr>
              <a:t># kolejność: backup ~/meshtastic_backup_&lt;data&gt;.tgz → kopia plików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4ADE80"/>
                </a:solidFill>
                <a:latin typeface="Consolas"/>
              </a:rPr>
              <a:t>#   → walidacja AST NA MASZYNIE → smoke testy → dopiero restart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0">
                <a:solidFill>
                  <a:srgbClr val="4ADE80"/>
                </a:solidFill>
                <a:latin typeface="Consolas"/>
              </a:rPr>
              <a:t># świadomie NIE dotyka config.py ani stanów w /tmp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10835640" cy="12801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G1 = offline-first: bez stałego internetu, w Tailscale tylko chwilami — stan po HB na supervisorze, nie po pingu.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Gdy jest okno dostępności G1 — NAJPIERW deploy na G1, potem reszta. Po deployu: HB od bramki + 5 flag zgodności.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00" b="1">
                <a:solidFill>
                  <a:srgbClr val="FBBF24"/>
                </a:solidFill>
                <a:latin typeface="Consolas"/>
              </a:rPr>
              <a:t>config.py edytuj in-place (ssh/sed) albo przez /api/config-save — tokeny, monitored/priority, porty, params_preset.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Dashboard lora-scada — 7 zakładek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10835640" cy="86868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572768"/>
            <a:ext cx="10424160" cy="7315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ZAKAZ starych generatorów (gen_*_dashboard.py): </a:t>
            </a:r>
            <a:r>
              <a:rPr sz="1200" b="0">
                <a:solidFill>
                  <a:srgbClr val="E5E5E5"/>
                </a:solidFill>
                <a:latin typeface="Consolas"/>
              </a:rPr>
              <a:t>zmiany chirurgicznie przez HA WebSocket API + backup Lovelace.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737373"/>
                </a:solidFill>
                <a:latin typeface="Consolas"/>
              </a:rPr>
              <a:t>→ Encje z MQTT Discovery (retained). Odtworzenie: backup HA / paczka 3_DASHBOARDY. Kontrola encji: tools/dash_audit.py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633472"/>
            <a:ext cx="10460736" cy="32004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43200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Zakładka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39" y="2743200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743200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Do czego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081528"/>
            <a:ext cx="10241280" cy="18288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154679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Bramka {GW}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39" y="3154679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scada-gw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154679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widok-wzorzec bramki (stan, urządzenia)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20439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Sterowanie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39" y="3520439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scada-ctl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520439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switche / światła, przyciski sterujące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886200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Pomiary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39" y="3886200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scada-meas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886200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kafle temp / wilgotność / bateria + wykresy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251959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Alarmy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39" y="4251959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scada-alarm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4251959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lista anomalii + Clear (offline / bateria / inne)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617720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Harmonogram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39" y="4617720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617720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kalendarz produkcji + tryb bramki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983480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Parametry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39" y="4983480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scada-param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4983480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P / T / Progi + przyciski Send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349240"/>
            <a:ext cx="26517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22D3EE"/>
                </a:solidFill>
                <a:latin typeface="Consolas"/>
              </a:rPr>
              <a:t>Diagnostyka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39" y="5349240"/>
            <a:ext cx="17373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scada-diag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5349240"/>
            <a:ext cx="585216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HB, czas, hashe zgodności, link supervisora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DASHBOARD · POMIARY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Kafle temp / wilgotność / leak / door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548640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5029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ODŚWIEŻANIE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502920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1">
                <a:solidFill>
                  <a:srgbClr val="22D3EE"/>
                </a:solidFill>
                <a:latin typeface="Consolas"/>
              </a:rPr>
              <a:t>▸  </a:t>
            </a:r>
            <a:r>
              <a:rPr sz="1150" b="1">
                <a:solidFill>
                  <a:srgbClr val="E5E5E5"/>
                </a:solidFill>
                <a:latin typeface="Consolas"/>
              </a:rPr>
              <a:t>Pomiarowe</a:t>
            </a:r>
            <a:r>
              <a:rPr sz="1150" b="0">
                <a:solidFill>
                  <a:srgbClr val="737373"/>
                </a:solidFill>
                <a:latin typeface="Consolas"/>
              </a:rPr>
              <a:t>  temp/wilg/bateria: co P3 min (15) + przy zmianie ≥0,5°C / ≥2%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1">
                <a:solidFill>
                  <a:srgbClr val="22D3EE"/>
                </a:solidFill>
                <a:latin typeface="Consolas"/>
              </a:rPr>
              <a:t>▸  </a:t>
            </a:r>
            <a:r>
              <a:rPr sz="1150" b="1">
                <a:solidFill>
                  <a:srgbClr val="E5E5E5"/>
                </a:solidFill>
                <a:latin typeface="Consolas"/>
              </a:rPr>
              <a:t>Binarne</a:t>
            </a:r>
            <a:r>
              <a:rPr sz="1150" b="0">
                <a:solidFill>
                  <a:srgbClr val="737373"/>
                </a:solidFill>
                <a:latin typeface="Consolas"/>
              </a:rPr>
              <a:t>  przekaźnik/drzwi/zalanie/ruch: WYŁĄCZNIE zdarzeniowo — milczenie to norma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1">
                <a:solidFill>
                  <a:srgbClr val="22D3EE"/>
                </a:solidFill>
                <a:latin typeface="Consolas"/>
              </a:rPr>
              <a:t>▸  </a:t>
            </a:r>
            <a:r>
              <a:rPr sz="1150" b="1">
                <a:solidFill>
                  <a:srgbClr val="E5E5E5"/>
                </a:solidFill>
                <a:latin typeface="Consolas"/>
              </a:rPr>
              <a:t>Że żyje</a:t>
            </a:r>
            <a:r>
              <a:rPr sz="1150" b="0">
                <a:solidFill>
                  <a:srgbClr val="737373"/>
                </a:solidFill>
                <a:latin typeface="Consolas"/>
              </a:rPr>
              <a:t>  blob avail (availability + LQI) + hash dh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1">
                <a:solidFill>
                  <a:srgbClr val="22D3EE"/>
                </a:solidFill>
                <a:latin typeface="Consolas"/>
              </a:rPr>
              <a:t>▸  </a:t>
            </a:r>
            <a:r>
              <a:rPr sz="1150" b="0">
                <a:solidFill>
                  <a:srgbClr val="E5E5E5"/>
                </a:solidFill>
                <a:latin typeface="Consolas"/>
              </a:rPr>
              <a:t>Kafle mają force_update → nie zamarzają przy stałej wartości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1">
                <a:solidFill>
                  <a:srgbClr val="22D3EE"/>
                </a:solidFill>
                <a:latin typeface="Consolas"/>
              </a:rPr>
              <a:t>▸  </a:t>
            </a:r>
            <a:r>
              <a:rPr sz="1150" b="1">
                <a:solidFill>
                  <a:srgbClr val="E5E5E5"/>
                </a:solidFill>
                <a:latin typeface="Consolas"/>
              </a:rPr>
              <a:t>last_seen</a:t>
            </a:r>
            <a:r>
              <a:rPr sz="1150" b="0">
                <a:solidFill>
                  <a:srgbClr val="737373"/>
                </a:solidFill>
                <a:latin typeface="Consolas"/>
              </a:rPr>
              <a:t>  = ostatni realny raport (uczciwy wskaźnik świeżości)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50" b="1">
                <a:solidFill>
                  <a:srgbClr val="22D3EE"/>
                </a:solidFill>
                <a:latin typeface="Consolas"/>
              </a:rPr>
              <a:t>▸  </a:t>
            </a:r>
            <a:r>
              <a:rPr sz="1150" b="1">
                <a:solidFill>
                  <a:srgbClr val="E5E5E5"/>
                </a:solidFill>
                <a:latin typeface="Consolas"/>
              </a:rPr>
              <a:t>Refresh</a:t>
            </a:r>
            <a:r>
              <a:rPr sz="1150" b="0">
                <a:solidFill>
                  <a:srgbClr val="737373"/>
                </a:solidFill>
                <a:latin typeface="Consolas"/>
              </a:rPr>
              <a:t>  przycisk per-urządzenie → natychmiastowa wartość (LoRa)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63040"/>
            <a:ext cx="507492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00200"/>
            <a:ext cx="4663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ENCJE (przykład G2)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4663440" cy="3657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sensor.lora_g2_temp_1_temperature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sensor.lora_g2_temp_1_humidity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sensor.lora_g2_temp_1_battery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binary_sensor..leak_1_water_leak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binary_sensor..door_1_contact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sensor.lora_g2_&lt;dev&gt;_last_seen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binary_sensor..&lt;dev&gt;_available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button.lora_g2_&lt;dev&gt;_refresh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DASHBOARD · HARMONOGRAM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Tryb bramki — sterowany z OBU stron, synchronizowany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444752"/>
            <a:ext cx="10552176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237744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Etykieta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554480"/>
            <a:ext cx="182880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Tryb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1554480"/>
            <a:ext cx="612648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Znaczenie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38528"/>
            <a:ext cx="10332720" cy="18288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011679"/>
            <a:ext cx="237744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ADE80"/>
                </a:solidFill>
                <a:latin typeface="Consolas"/>
              </a:rPr>
              <a:t>Całodobowa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011679"/>
            <a:ext cx="182880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all-time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011679"/>
            <a:ext cx="612648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zawsze aktywna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23160"/>
            <a:ext cx="237744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2D3EE"/>
                </a:solidFill>
                <a:latin typeface="Consolas"/>
              </a:rPr>
              <a:t>Dzienna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423160"/>
            <a:ext cx="182880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423160"/>
            <a:ext cx="612648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aktywna w dzień (świt–zmierzch solarnie)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834639"/>
            <a:ext cx="237744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2D3EE"/>
                </a:solidFill>
                <a:latin typeface="Consolas"/>
              </a:rPr>
              <a:t>Nocna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834639"/>
            <a:ext cx="182880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night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39"/>
            <a:ext cx="612648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aktywna w nocy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46120"/>
            <a:ext cx="237744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22D3EE"/>
                </a:solidFill>
                <a:latin typeface="Consolas"/>
              </a:rPr>
              <a:t>Kalendarz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246120"/>
            <a:ext cx="182880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calendar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3246120"/>
            <a:ext cx="6126480" cy="411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5E5E5"/>
                </a:solidFill>
                <a:latin typeface="Consolas"/>
              </a:rPr>
              <a:t>aktywność wg harmonogramu produkcji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023360"/>
            <a:ext cx="10835640" cy="201168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206240"/>
            <a:ext cx="1033272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200" b="0">
                <a:solidFill>
                  <a:srgbClr val="E5E5E5"/>
                </a:solidFill>
                <a:latin typeface="Consolas"/>
              </a:rPr>
              <a:t>Zmiana działa i na bramce, i na supervisorze — round-trip przez LoRa (set_mode) + potwierdzenie w HB (gm). Oba selecty odbijają realny tryb.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200" b="0">
                <a:solidFill>
                  <a:srgbClr val="E5E5E5"/>
                </a:solidFill>
                <a:latin typeface="Consolas"/>
              </a:rPr>
              <a:t>Monitorowane + priority (temp / hum / leak / door) raportują ZAWSZE, także gdy bramka nieaktywna.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200" b="0">
                <a:solidFill>
                  <a:srgbClr val="E5E5E5"/>
                </a:solidFill>
                <a:latin typeface="Consolas"/>
              </a:rPr>
              <a:t>Tłumione są tylko urządzenia oświetleniowe (non-monitored) — by nie zgłaszać fałszywego offline.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DASHBOARD · PARAMETRY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Edytuj pole → naciśnij Wyślij (bramka = master)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399031"/>
            <a:ext cx="6071616" cy="4613148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Klucz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508760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Nazwa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08760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Domyśl.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508760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Jedn.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815083"/>
            <a:ext cx="5852159" cy="18288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88235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1888235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Stagnation bateryjne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88235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1888235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221991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221991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Stagnation sieciowe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21991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221991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555748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2555748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Raportowanie temp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555748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555748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89503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2889503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Ping sup interwał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2889503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2889503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23259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T1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3223259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Offline switch/light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223259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223259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557015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T2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3557015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Offline temp/hum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557015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3557015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890772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T3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3890772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Offline door/leak/motion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3890772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120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890772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224528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T4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224528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Ping sup timeout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224528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0" y="4224528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558284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TH/TL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558284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Próg temp. wys./nis.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4558284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35/10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0" y="4558284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892040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HH/HL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4892040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Próg wilg. wys./nis.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92040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70/20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0" y="4892040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225795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BL/BC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54480" y="5225795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Próg bat. nis./kryt.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5225795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25/15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0" y="5225795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559551"/>
            <a:ext cx="91440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54480" y="5559551"/>
            <a:ext cx="301752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Ping sup retry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5559551"/>
            <a:ext cx="109728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0" y="5559551"/>
            <a:ext cx="822960" cy="333756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x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720840" y="1508760"/>
            <a:ext cx="4800600" cy="21945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0" y="1645920"/>
            <a:ext cx="438912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GRUPY WYSYŁKI (przyciski Send)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0" y="2148840"/>
            <a:ext cx="438912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Wyślij Config</a:t>
            </a:r>
            <a:r>
              <a:rPr sz="1200" b="0">
                <a:solidFill>
                  <a:srgbClr val="737373"/>
                </a:solidFill>
                <a:latin typeface="Consolas"/>
              </a:rPr>
              <a:t>  P1 P2 P3 P4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Wyślij Timeout</a:t>
            </a:r>
            <a:r>
              <a:rPr sz="1200" b="0">
                <a:solidFill>
                  <a:srgbClr val="737373"/>
                </a:solidFill>
                <a:latin typeface="Consolas"/>
              </a:rPr>
              <a:t>  T1 T2 T3 T4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Wyślij Progi</a:t>
            </a:r>
            <a:r>
              <a:rPr sz="1200" b="0">
                <a:solidFill>
                  <a:srgbClr val="737373"/>
                </a:solidFill>
                <a:latin typeface="Consolas"/>
              </a:rPr>
              <a:t>  TH TL HH HL BL BC PR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20840" y="3886200"/>
            <a:ext cx="4800600" cy="21488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A3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9440" y="4023360"/>
            <a:ext cx="4389120" cy="19202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4ADE80"/>
                </a:solidFill>
                <a:latin typeface="Consolas"/>
              </a:rPr>
              <a:t>AUTO-HEAL parametrów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Rozjazd mirror↔master (zgubiony pakiet)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leczy się sam — supervisor dociąga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E5E5E5"/>
                </a:solidFill>
                <a:latin typeface="Consolas"/>
              </a:rPr>
              <a:t>wartości od bramki. Chyba że masz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FBBF24"/>
                </a:solidFill>
                <a:latin typeface="Consolas"/>
              </a:rPr>
              <a:t>niewysłaną lokalną edycję → naciśnij Send.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DIAGNOSTYKA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Synchronizacja i 5 flag zgodności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548640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5029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FLAGI (zgodny ✅ / ROZJAZD ⚠️)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502920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DISC</a:t>
            </a:r>
            <a:r>
              <a:rPr sz="1200" b="0">
                <a:solidFill>
                  <a:srgbClr val="737373"/>
                </a:solidFill>
                <a:latin typeface="Consolas"/>
              </a:rPr>
              <a:t>  mapa urządzeń → dociąga devmap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PARAM</a:t>
            </a:r>
            <a:r>
              <a:rPr sz="1200" b="0">
                <a:solidFill>
                  <a:srgbClr val="737373"/>
                </a:solidFill>
                <a:latin typeface="Consolas"/>
              </a:rPr>
              <a:t>  P/T/Progi → auto-heal od mastera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KALENDARZ</a:t>
            </a:r>
            <a:r>
              <a:rPr sz="1200" b="0">
                <a:solidFill>
                  <a:srgbClr val="737373"/>
                </a:solidFill>
                <a:latin typeface="Consolas"/>
              </a:rPr>
              <a:t>  harmonogram → push/pull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ANOMALIE</a:t>
            </a:r>
            <a:r>
              <a:rPr sz="1200" b="0">
                <a:solidFill>
                  <a:srgbClr val="737373"/>
                </a:solidFill>
                <a:latin typeface="Consolas"/>
              </a:rPr>
              <a:t>  lista → dump_anom / ansnap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200" b="1">
                <a:solidFill>
                  <a:srgbClr val="22D3EE"/>
                </a:solidFill>
                <a:latin typeface="Consolas"/>
              </a:rPr>
              <a:t>▸  </a:t>
            </a:r>
            <a:r>
              <a:rPr sz="1200" b="1">
                <a:solidFill>
                  <a:srgbClr val="E5E5E5"/>
                </a:solidFill>
                <a:latin typeface="Consolas"/>
              </a:rPr>
              <a:t>DANE</a:t>
            </a:r>
            <a:r>
              <a:rPr sz="1200" b="0">
                <a:solidFill>
                  <a:srgbClr val="737373"/>
                </a:solidFill>
                <a:latin typeface="Consolas"/>
              </a:rPr>
              <a:t>  stan urządzeń (dh) → dsnap tylko po potwierdzonym rozjeździe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502920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Kafel czasu: offset = różnica zegarów po odjęciu RTT/2.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737373"/>
                </a:solidFill>
                <a:latin typeface="Consolas"/>
              </a:rPr>
              <a:t>Pewność co do zegarów daje tq, nie offset.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63040"/>
            <a:ext cx="507492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600200"/>
            <a:ext cx="4663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SYNCHRONIZACJA v12.3–v12.11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48840"/>
            <a:ext cx="4663440" cy="38404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hash w ramkach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b + st/stm niosą dh/sh → DANE zgodne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od razu po sterowaniu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dsnap po potwierdzonym rozjeździe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2 świeże HB z tym samym rozjazdem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spóźnione ramki z anteny odrzucane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nie cofają lustra supervisora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discovery z hashem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zgodny → sama disc_meta, bez devmapy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trwałe lustro supervisora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/tmp/lora_sup_mirror.json (co 30 s)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restart supa bez dsnap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szybki pas omija slot innej bramki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potwierdzenia st po 3 s ciszy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4ADE80"/>
                </a:solidFill>
                <a:latin typeface="Consolas"/>
              </a:rPr>
              <a:t># v12.11: polecenie parametrów raz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EKSPLOATACJA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Troubleshooting (najczęstsze objawy)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353312"/>
            <a:ext cx="11100816" cy="466344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Objaw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463040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Przyczyna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63040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22D3EE"/>
                </a:solidFill>
                <a:latin typeface="Consolas"/>
              </a:rPr>
              <a:t>Działanie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984248"/>
            <a:ext cx="10881360" cy="18288"/>
          </a:xfrm>
          <a:prstGeom prst="round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57400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FBBF24"/>
                </a:solidFill>
                <a:latin typeface="Consolas"/>
              </a:rPr>
              <a:t>Kafle temp/leak/door zamrożone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057400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bramka nieaktywna (ga=0) lub proces stanął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57400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sprawdź HB gm/ga; tryb Całodobowa / proces żyje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606039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Świeży czas, stara wartość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606039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pakiet b zgubiony na LoRa (avail-blob podtrzymuje)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39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poczekaj cykl / Refresh; last_seen mówi prawdę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154679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Encja zamrożona mimo świeżego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154679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brak force_update / stale-registry 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154679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republish config (bez generatorów); ost. restart HA MQTT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Urządzenie offline mimo że żyje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3703320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timeout T1/T2/T3 za krótki dla bateryjnego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703320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podnieś T2/T3 (Parametry → Wyślij Timeout)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251959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FBBF24"/>
                </a:solidFill>
                <a:latin typeface="Consolas"/>
              </a:rPr>
              <a:t>ROZJAZD parametrów utrzymuje się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251959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zgubiony param_upd / niewysłana edycja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251959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naciśnij Send (master) — auto-heal ruszy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00599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F87171"/>
                </a:solidFill>
                <a:latin typeface="Consolas"/>
              </a:rPr>
              <a:t>MCP ha-gw/ha-sup = 401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800599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token wygasł / zrewokowany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4800599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aktualizuj HA_TOKEN (config.py + .claude.json) + restart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349240"/>
            <a:ext cx="329184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Launcher: endpointy timeoutują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5349240"/>
            <a:ext cx="3840480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za dużo osieroconych sesji SSH (Windows)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349240"/>
            <a:ext cx="3749039" cy="5486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E5E5E5"/>
                </a:solidFill>
                <a:latin typeface="Consolas"/>
              </a:rPr>
              <a:t>sprawdź liczbę ssh; zamknij karty tail; restart launchera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EKSPLOATACJA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Health-check + pliki stanu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548640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5029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SZYBKIE KOMENDY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5029200" cy="374903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proces żyje?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pgrep -af 'python -u Meshtastic_SCADA.py'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ostatni HB (tryb gm, aktywność ga):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grep '"t":"hb"' /tmp/test_transport.log | tail -1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HA API odpowiada?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curl -H 'Authorization: Bearer $TOKEN' \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    localhost:8123/api/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63040"/>
            <a:ext cx="507492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00200"/>
            <a:ext cx="4663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PLIKI STANU (na maszynie)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4663440" cy="374903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/tmp/lora_params.json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parametry (master)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/tmp/lora_params_sup_&lt;gw&gt;.json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mirror params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/tmp/lora_mode_gw.json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tryb bramki (ponad config)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/tmp/lora_sid_map_&lt;gw&gt;.json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stabilne sidy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/tmp/lora_anomaly_ids.json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aktywne anomalie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/tmp/lora_schedule_gw.json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harmonogram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/tmp/lora_sup_mirror.json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trwałe lustro (sup)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/tmp/lora_sup_devices.json</a:t>
            </a:r>
            <a:r>
              <a:rPr sz="1050" b="0">
                <a:solidFill>
                  <a:srgbClr val="E5E5E5"/>
                </a:solidFill>
                <a:latin typeface="Consolas"/>
              </a:rPr>
              <a:t>  mapy + hashe (sup)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/tmp/lora_air.log</a:t>
            </a:r>
            <a:r>
              <a:rPr sz="1050" b="0">
                <a:solidFill>
                  <a:srgbClr val="E5E5E5"/>
                </a:solidFill>
                <a:latin typeface="Consolas"/>
              </a:rPr>
              <a:t>  nadania w eter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/tmp/test_transport.log</a:t>
            </a:r>
            <a:r>
              <a:rPr sz="1050" b="0">
                <a:solidFill>
                  <a:srgbClr val="E5E5E5"/>
                </a:solidFill>
                <a:latin typeface="Consolas"/>
              </a:rPr>
              <a:t>  log runtime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EKSPLOATACJA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Narzędzia + znane ograniczenia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63040"/>
            <a:ext cx="548640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50292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2D3EE"/>
                </a:solidFill>
                <a:latin typeface="Consolas"/>
              </a:rPr>
              <a:t>NARZĘDZIA (z PC — tylko G2 + sup)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5029200" cy="374903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E2E na żywo G2 ↔ sup (47 kroków)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python tools/e2e_g2.py [--list|--only grupa]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każda encja z dashboardów istnieje?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python tools/dash_audit.py \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   100.79.111.24 100.98.155.78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benchmark opóźnień + kontrola slotów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python tools/bench_g2.py  → logs/bench_*.out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E5E5E5"/>
                </a:solidFill>
                <a:latin typeface="Consolas"/>
              </a:rPr>
              <a:t> 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ruch ramek: frame_stats.py, lora_traffic_log.py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4ADE80"/>
                </a:solidFill>
                <a:latin typeface="Consolas"/>
              </a:rPr>
              <a:t># E2E / bench NIE na G1 (produkcja)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1463040"/>
            <a:ext cx="5074920" cy="457200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00200"/>
            <a:ext cx="46634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ZNANE OGRANICZENIA (świadome)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148840"/>
            <a:ext cx="4663440" cy="374903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Transfery startowe G1</a:t>
            </a:r>
            <a:r>
              <a:rPr sz="1050" b="0">
                <a:solidFill>
                  <a:srgbClr val="E5E5E5"/>
                </a:solidFill>
                <a:latin typeface="Consolas"/>
              </a:rPr>
              <a:t>  ~15 min po restarcie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/>
            </a:r>
            <a:r>
              <a:rPr sz="1050" b="0">
                <a:solidFill>
                  <a:srgbClr val="E5E5E5"/>
                </a:solidFill>
                <a:latin typeface="Consolas"/>
              </a:rPr>
              <a:t>pomiary dopiero ≥10 min po restarcie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Stagnacja</a:t>
            </a:r>
            <a:r>
              <a:rPr sz="1050" b="0">
                <a:solidFill>
                  <a:srgbClr val="E5E5E5"/>
                </a:solidFill>
                <a:latin typeface="Consolas"/>
              </a:rPr>
              <a:t>  zeruje ją też z2m availability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/>
            </a:r>
            <a:r>
              <a:rPr sz="1050" b="0">
                <a:solidFill>
                  <a:srgbClr val="E5E5E5"/>
                </a:solidFill>
                <a:latin typeface="Consolas"/>
              </a:rPr>
              <a:t>decyzja: zostaje; pokryta testami jedn.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G1 w dzień</a:t>
            </a:r>
            <a:r>
              <a:rPr sz="1050" b="0">
                <a:solidFill>
                  <a:srgbClr val="E5E5E5"/>
                </a:solidFill>
                <a:latin typeface="Consolas"/>
              </a:rPr>
              <a:t>  przekaźniki bez napięcia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/>
            </a:r>
            <a:r>
              <a:rPr sz="1050" b="0">
                <a:solidFill>
                  <a:srgbClr val="E5E5E5"/>
                </a:solidFill>
                <a:latin typeface="Consolas"/>
              </a:rPr>
              <a:t>→ jeden dsnap po restarcie (oczekiwane)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Ruch ramek/h v12.10+</a:t>
            </a:r>
            <a:r>
              <a:rPr sz="1050" b="0">
                <a:solidFill>
                  <a:srgbClr val="E5E5E5"/>
                </a:solidFill>
                <a:latin typeface="Consolas"/>
              </a:rPr>
              <a:t>  niezmierzony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>Bench v12.10</a:t>
            </a:r>
            <a:r>
              <a:rPr sz="1050" b="0">
                <a:solidFill>
                  <a:srgbClr val="E5E5E5"/>
                </a:solidFill>
                <a:latin typeface="Consolas"/>
              </a:rPr>
              <a:t>  ping 9,1 s · sterowanie 9,2 s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/>
            </a:r>
            <a:r>
              <a:rPr sz="1050" b="0">
                <a:solidFill>
                  <a:srgbClr val="E5E5E5"/>
                </a:solidFill>
                <a:latin typeface="Consolas"/>
              </a:rPr>
              <a:t>parametry 16,8 s (v12.11: 9,2 s)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050" b="0">
                <a:solidFill>
                  <a:srgbClr val="22D3EE"/>
                </a:solidFill>
                <a:latin typeface="Consolas"/>
              </a:rPr>
              <a:t/>
            </a:r>
            <a:r>
              <a:rPr sz="1050" b="0">
                <a:solidFill>
                  <a:srgbClr val="E5E5E5"/>
                </a:solidFill>
                <a:latin typeface="Consolas"/>
              </a:rPr>
              <a:t>anomalia 14,1 s · zgubione 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ALARMY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Powiadomienia alarmowe — Telegram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10835640" cy="40233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3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1033272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Status:</a:t>
            </a:r>
            <a:r>
              <a:rPr sz="1300" b="0">
                <a:solidFill>
                  <a:srgbClr val="737373"/>
                </a:solidFill>
                <a:latin typeface="Consolas"/>
              </a:rPr>
              <a:t>  WDRAŻANE, jeszcze nie przetestowane — szczegóły (id automatyzacji) do uzupełnienia.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Kanał:</a:t>
            </a:r>
            <a:r>
              <a:rPr sz="1300" b="0">
                <a:solidFill>
                  <a:srgbClr val="737373"/>
                </a:solidFill>
                <a:latin typeface="Consolas"/>
              </a:rPr>
              <a:t>  HA supervisora → bot @jspos_bot → czat Jakuba.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Alarmują:</a:t>
            </a:r>
            <a:r>
              <a:rPr sz="1300" b="0">
                <a:solidFill>
                  <a:srgbClr val="737373"/>
                </a:solidFill>
                <a:latin typeface="Consolas"/>
              </a:rPr>
              <a:t>  zalanie, dym, bramka G1/G2 offline ≥5 min + komunikat powrotu.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Watchdog:</a:t>
            </a:r>
            <a:r>
              <a:rPr sz="1300" b="0">
                <a:solidFill>
                  <a:srgbClr val="737373"/>
                </a:solidFill>
                <a:latin typeface="Consolas"/>
              </a:rPr>
              <a:t>  n8n co 5 min sprawdza supervisora, alarm po 2 kolejnych porażkach (supervisor nie zgłosi własnej awarii).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Tylko w HA:</a:t>
            </a:r>
            <a:r>
              <a:rPr sz="1300" b="0">
                <a:solidFill>
                  <a:srgbClr val="737373"/>
                </a:solidFill>
                <a:latin typeface="Consolas"/>
              </a:rPr>
              <a:t>  temperatura, wilgotność, bateria — bez powiadomień.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09728" cy="502920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9728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25252"/>
                </a:solidFill>
                <a:latin typeface="Consolas"/>
              </a:rPr>
              <a:t>PODSUMOWANIE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603504"/>
            <a:ext cx="11155680" cy="640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E5E5E5"/>
                </a:solidFill>
                <a:latin typeface="Consolas"/>
              </a:rPr>
              <a:t>Zasady bezpieczeństwa operacyjnego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00800"/>
            <a:ext cx="7315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25252"/>
                </a:solidFill>
                <a:latin typeface="Consolas"/>
              </a:rPr>
              <a:t>LoRa Zigbee SCADA — Instrukcja obsługi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00800"/>
            <a:ext cx="109728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525252"/>
                </a:solidFill>
                <a:latin typeface="Consola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554480"/>
            <a:ext cx="10835640" cy="402336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1F3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10332720" cy="45720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Bramka = źródło prawdy.</a:t>
            </a:r>
            <a:r>
              <a:rPr sz="1300" b="0">
                <a:solidFill>
                  <a:srgbClr val="737373"/>
                </a:solidFill>
                <a:latin typeface="Consolas"/>
              </a:rPr>
              <a:t>  Dashboard supervisora = odwzorowanie bramki (podmiana encji).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Testuj na G2 (testbed),</a:t>
            </a:r>
            <a:r>
              <a:rPr sz="1300" b="0">
                <a:solidFill>
                  <a:srgbClr val="737373"/>
                </a:solidFill>
                <a:latin typeface="Consolas"/>
              </a:rPr>
              <a:t>  nie na produkcyjnym G1, dopóki nie potwierdzone live.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G1 = offline-first.</a:t>
            </a:r>
            <a:r>
              <a:rPr sz="1300" b="0">
                <a:solidFill>
                  <a:srgbClr val="737373"/>
                </a:solidFill>
                <a:latin typeface="Consolas"/>
              </a:rPr>
              <a:t>  Stan po HB na supervisorze; gdy G1 jest w Tailscale — najpierw deploy na G1.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Restart supervisora bezpieczny</a:t>
            </a:r>
            <a:r>
              <a:rPr sz="1300" b="0">
                <a:solidFill>
                  <a:srgbClr val="737373"/>
                </a:solidFill>
                <a:latin typeface="Consolas"/>
              </a:rPr>
              <a:t>  (bramki autonomiczne); restart bramki = krótka utrata monitoringu tej lokalizacji.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Nie zmieniać stylu/mechanik</a:t>
            </a:r>
            <a:r>
              <a:rPr sz="1300" b="0">
                <a:solidFill>
                  <a:srgbClr val="737373"/>
                </a:solidFill>
                <a:latin typeface="Consolas"/>
              </a:rPr>
              <a:t>  dashboardu ad-hoc — trzymać się wzorca.</a:t>
            </a:r>
          </a:p>
          <a:p>
            <a:pPr algn="l">
              <a:lnSpc>
                <a:spcPct val="170000"/>
              </a:lnSpc>
              <a:spcAft>
                <a:spcPts val="200"/>
              </a:spcAft>
            </a:pPr>
            <a:r>
              <a:rPr sz="1300" b="1">
                <a:solidFill>
                  <a:srgbClr val="4ADE80"/>
                </a:solidFill>
                <a:latin typeface="Consolas"/>
              </a:rPr>
              <a:t>▸  </a:t>
            </a:r>
            <a:r>
              <a:rPr sz="1300" b="1">
                <a:solidFill>
                  <a:srgbClr val="E5E5E5"/>
                </a:solidFill>
                <a:latin typeface="Consolas"/>
              </a:rPr>
              <a:t>Zmiana tokenu HA</a:t>
            </a:r>
            <a:r>
              <a:rPr sz="1300" b="0">
                <a:solidFill>
                  <a:srgbClr val="737373"/>
                </a:solidFill>
                <a:latin typeface="Consolas"/>
              </a:rPr>
              <a:t>  = config.py (obie maszyny) + .claude.json + restart roli + restart Claude Code (MCP).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